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6"/>
  </p:notesMasterIdLst>
  <p:handoutMasterIdLst>
    <p:handoutMasterId r:id="rId7"/>
  </p:handoutMasterIdLst>
  <p:sldIdLst>
    <p:sldId id="256" r:id="rId5"/>
  </p:sldIdLst>
  <p:sldSz cx="42803763"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A3A3FA-A8FA-43B3-8A44-0672CED6F302}" v="3" dt="2026-08-11T01:13:54.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4" d="100"/>
          <a:sy n="24" d="100"/>
        </p:scale>
        <p:origin x="15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alge, John (US)" userId="bb7f8b77-50c9-4468-9b17-64f3902d847f" providerId="ADAL" clId="{4C44CC90-51FD-4710-8AC7-03F2B200FE57}"/>
    <pc:docChg chg="undo custSel modSld">
      <pc:chgData name="Greenhalge, John (US)" userId="bb7f8b77-50c9-4468-9b17-64f3902d847f" providerId="ADAL" clId="{4C44CC90-51FD-4710-8AC7-03F2B200FE57}" dt="2026-08-10T22:01:19.945" v="203" actId="14100"/>
      <pc:docMkLst>
        <pc:docMk/>
      </pc:docMkLst>
      <pc:sldChg chg="addSp delSp modSp mod">
        <pc:chgData name="Greenhalge, John (US)" userId="bb7f8b77-50c9-4468-9b17-64f3902d847f" providerId="ADAL" clId="{4C44CC90-51FD-4710-8AC7-03F2B200FE57}" dt="2026-08-10T22:01:19.945" v="203" actId="14100"/>
        <pc:sldMkLst>
          <pc:docMk/>
          <pc:sldMk cId="3531121403" sldId="256"/>
        </pc:sldMkLst>
        <pc:spChg chg="mod">
          <ac:chgData name="Greenhalge, John (US)" userId="bb7f8b77-50c9-4468-9b17-64f3902d847f" providerId="ADAL" clId="{4C44CC90-51FD-4710-8AC7-03F2B200FE57}" dt="2026-08-09T21:39:20.825" v="2" actId="242"/>
          <ac:spMkLst>
            <pc:docMk/>
            <pc:sldMk cId="3531121403" sldId="256"/>
            <ac:spMk id="2" creationId="{EDD2FDEF-0BD3-0078-448A-D5395C31C0BF}"/>
          </ac:spMkLst>
        </pc:spChg>
        <pc:spChg chg="add del mod">
          <ac:chgData name="Greenhalge, John (US)" userId="bb7f8b77-50c9-4468-9b17-64f3902d847f" providerId="ADAL" clId="{4C44CC90-51FD-4710-8AC7-03F2B200FE57}" dt="2026-08-10T13:59:03.089" v="88" actId="478"/>
          <ac:spMkLst>
            <pc:docMk/>
            <pc:sldMk cId="3531121403" sldId="256"/>
            <ac:spMk id="4" creationId="{23B90DAA-4D3B-9F27-8F90-E594094B7911}"/>
          </ac:spMkLst>
        </pc:spChg>
        <pc:spChg chg="add del mod">
          <ac:chgData name="Greenhalge, John (US)" userId="bb7f8b77-50c9-4468-9b17-64f3902d847f" providerId="ADAL" clId="{4C44CC90-51FD-4710-8AC7-03F2B200FE57}" dt="2026-08-10T21:59:22.599" v="195" actId="478"/>
          <ac:spMkLst>
            <pc:docMk/>
            <pc:sldMk cId="3531121403" sldId="256"/>
            <ac:spMk id="6" creationId="{D2A3DFC2-3880-AC90-DD20-0BF7A00286D9}"/>
          </ac:spMkLst>
        </pc:spChg>
        <pc:spChg chg="mod">
          <ac:chgData name="Greenhalge, John (US)" userId="bb7f8b77-50c9-4468-9b17-64f3902d847f" providerId="ADAL" clId="{4C44CC90-51FD-4710-8AC7-03F2B200FE57}" dt="2026-08-10T13:47:07.787" v="3"/>
          <ac:spMkLst>
            <pc:docMk/>
            <pc:sldMk cId="3531121403" sldId="256"/>
            <ac:spMk id="48" creationId="{862DA4CD-378F-2779-B365-0FABE1134372}"/>
          </ac:spMkLst>
        </pc:spChg>
        <pc:spChg chg="mod">
          <ac:chgData name="Greenhalge, John (US)" userId="bb7f8b77-50c9-4468-9b17-64f3902d847f" providerId="ADAL" clId="{4C44CC90-51FD-4710-8AC7-03F2B200FE57}" dt="2026-08-10T13:48:12.582" v="7" actId="20577"/>
          <ac:spMkLst>
            <pc:docMk/>
            <pc:sldMk cId="3531121403" sldId="256"/>
            <ac:spMk id="49" creationId="{99E04437-79E0-4BF6-9EB9-429995E1E7AF}"/>
          </ac:spMkLst>
        </pc:spChg>
        <pc:spChg chg="mod">
          <ac:chgData name="Greenhalge, John (US)" userId="bb7f8b77-50c9-4468-9b17-64f3902d847f" providerId="ADAL" clId="{4C44CC90-51FD-4710-8AC7-03F2B200FE57}" dt="2026-08-10T18:00:09.044" v="159" actId="20577"/>
          <ac:spMkLst>
            <pc:docMk/>
            <pc:sldMk cId="3531121403" sldId="256"/>
            <ac:spMk id="58" creationId="{73B1D3BC-1A32-8937-1C4F-192EF99BF4AD}"/>
          </ac:spMkLst>
        </pc:spChg>
        <pc:spChg chg="mod">
          <ac:chgData name="Greenhalge, John (US)" userId="bb7f8b77-50c9-4468-9b17-64f3902d847f" providerId="ADAL" clId="{4C44CC90-51FD-4710-8AC7-03F2B200FE57}" dt="2026-08-10T17:59:14.344" v="150" actId="20577"/>
          <ac:spMkLst>
            <pc:docMk/>
            <pc:sldMk cId="3531121403" sldId="256"/>
            <ac:spMk id="189" creationId="{EE8A5B5A-1F58-5DBE-41DA-39CEBF2814FD}"/>
          </ac:spMkLst>
        </pc:spChg>
        <pc:spChg chg="ord">
          <ac:chgData name="Greenhalge, John (US)" userId="bb7f8b77-50c9-4468-9b17-64f3902d847f" providerId="ADAL" clId="{4C44CC90-51FD-4710-8AC7-03F2B200FE57}" dt="2026-08-10T15:09:03.269" v="114" actId="166"/>
          <ac:spMkLst>
            <pc:docMk/>
            <pc:sldMk cId="3531121403" sldId="256"/>
            <ac:spMk id="210" creationId="{B3F6CA61-9814-35C8-DB32-A3A52DF2640F}"/>
          </ac:spMkLst>
        </pc:spChg>
        <pc:spChg chg="mod ord">
          <ac:chgData name="Greenhalge, John (US)" userId="bb7f8b77-50c9-4468-9b17-64f3902d847f" providerId="ADAL" clId="{4C44CC90-51FD-4710-8AC7-03F2B200FE57}" dt="2026-08-10T15:08:32.317" v="113" actId="34135"/>
          <ac:spMkLst>
            <pc:docMk/>
            <pc:sldMk cId="3531121403" sldId="256"/>
            <ac:spMk id="218" creationId="{D254D9B1-0F90-9671-7E2B-F57FBC3F1A2E}"/>
          </ac:spMkLst>
        </pc:spChg>
        <pc:spChg chg="del mod topLvl">
          <ac:chgData name="Greenhalge, John (US)" userId="bb7f8b77-50c9-4468-9b17-64f3902d847f" providerId="ADAL" clId="{4C44CC90-51FD-4710-8AC7-03F2B200FE57}" dt="2026-08-10T21:56:26.670" v="181" actId="478"/>
          <ac:spMkLst>
            <pc:docMk/>
            <pc:sldMk cId="3531121403" sldId="256"/>
            <ac:spMk id="227" creationId="{7CC596A4-AC0E-5CA4-DD16-F32CB30618D8}"/>
          </ac:spMkLst>
        </pc:spChg>
        <pc:spChg chg="del mod">
          <ac:chgData name="Greenhalge, John (US)" userId="bb7f8b77-50c9-4468-9b17-64f3902d847f" providerId="ADAL" clId="{4C44CC90-51FD-4710-8AC7-03F2B200FE57}" dt="2026-08-10T21:49:07.715" v="161" actId="478"/>
          <ac:spMkLst>
            <pc:docMk/>
            <pc:sldMk cId="3531121403" sldId="256"/>
            <ac:spMk id="229" creationId="{5026DCB3-4A9B-E882-1A70-983009F629BC}"/>
          </ac:spMkLst>
        </pc:spChg>
        <pc:spChg chg="mod ord">
          <ac:chgData name="Greenhalge, John (US)" userId="bb7f8b77-50c9-4468-9b17-64f3902d847f" providerId="ADAL" clId="{4C44CC90-51FD-4710-8AC7-03F2B200FE57}" dt="2026-08-10T15:08:32.317" v="113" actId="34135"/>
          <ac:spMkLst>
            <pc:docMk/>
            <pc:sldMk cId="3531121403" sldId="256"/>
            <ac:spMk id="231" creationId="{958B0223-6D40-E8C3-DCEF-176179D4D5BC}"/>
          </ac:spMkLst>
        </pc:spChg>
        <pc:spChg chg="mod">
          <ac:chgData name="Greenhalge, John (US)" userId="bb7f8b77-50c9-4468-9b17-64f3902d847f" providerId="ADAL" clId="{4C44CC90-51FD-4710-8AC7-03F2B200FE57}" dt="2026-08-10T14:01:57.136" v="99" actId="20577"/>
          <ac:spMkLst>
            <pc:docMk/>
            <pc:sldMk cId="3531121403" sldId="256"/>
            <ac:spMk id="239" creationId="{1E7FFD29-AF21-3B3D-6B0D-916945F1DA34}"/>
          </ac:spMkLst>
        </pc:spChg>
        <pc:grpChg chg="add del mod ord">
          <ac:chgData name="Greenhalge, John (US)" userId="bb7f8b77-50c9-4468-9b17-64f3902d847f" providerId="ADAL" clId="{4C44CC90-51FD-4710-8AC7-03F2B200FE57}" dt="2026-08-10T21:59:29.780" v="196" actId="478"/>
          <ac:grpSpMkLst>
            <pc:docMk/>
            <pc:sldMk cId="3531121403" sldId="256"/>
            <ac:grpSpMk id="4" creationId="{27B5A941-7B7C-DC5B-1967-39C186225019}"/>
          </ac:grpSpMkLst>
        </pc:grpChg>
        <pc:grpChg chg="del">
          <ac:chgData name="Greenhalge, John (US)" userId="bb7f8b77-50c9-4468-9b17-64f3902d847f" providerId="ADAL" clId="{4C44CC90-51FD-4710-8AC7-03F2B200FE57}" dt="2026-08-10T21:48:46.909" v="160" actId="478"/>
          <ac:grpSpMkLst>
            <pc:docMk/>
            <pc:sldMk cId="3531121403" sldId="256"/>
            <ac:grpSpMk id="208" creationId="{223DAE19-2B59-B67D-7F1A-CB5A02F72376}"/>
          </ac:grpSpMkLst>
        </pc:grpChg>
        <pc:grpChg chg="mod">
          <ac:chgData name="Greenhalge, John (US)" userId="bb7f8b77-50c9-4468-9b17-64f3902d847f" providerId="ADAL" clId="{4C44CC90-51FD-4710-8AC7-03F2B200FE57}" dt="2026-08-10T13:47:07.787" v="3"/>
          <ac:grpSpMkLst>
            <pc:docMk/>
            <pc:sldMk cId="3531121403" sldId="256"/>
            <ac:grpSpMk id="215" creationId="{21EC6620-D34F-B9CF-568B-1191BE67AB85}"/>
          </ac:grpSpMkLst>
        </pc:grpChg>
        <pc:grpChg chg="topLvl">
          <ac:chgData name="Greenhalge, John (US)" userId="bb7f8b77-50c9-4468-9b17-64f3902d847f" providerId="ADAL" clId="{4C44CC90-51FD-4710-8AC7-03F2B200FE57}" dt="2026-08-10T21:56:26.670" v="181" actId="478"/>
          <ac:grpSpMkLst>
            <pc:docMk/>
            <pc:sldMk cId="3531121403" sldId="256"/>
            <ac:grpSpMk id="235" creationId="{42608223-DF74-3574-3D6E-C55C41321D2F}"/>
          </ac:grpSpMkLst>
        </pc:grpChg>
        <pc:grpChg chg="del">
          <ac:chgData name="Greenhalge, John (US)" userId="bb7f8b77-50c9-4468-9b17-64f3902d847f" providerId="ADAL" clId="{4C44CC90-51FD-4710-8AC7-03F2B200FE57}" dt="2026-08-10T21:56:26.670" v="181" actId="478"/>
          <ac:grpSpMkLst>
            <pc:docMk/>
            <pc:sldMk cId="3531121403" sldId="256"/>
            <ac:grpSpMk id="236" creationId="{9A31E518-0F77-39F2-241C-084F1D5A5C0E}"/>
          </ac:grpSpMkLst>
        </pc:grpChg>
        <pc:picChg chg="add mod ord">
          <ac:chgData name="Greenhalge, John (US)" userId="bb7f8b77-50c9-4468-9b17-64f3902d847f" providerId="ADAL" clId="{4C44CC90-51FD-4710-8AC7-03F2B200FE57}" dt="2026-08-10T21:58:35.728" v="194" actId="14100"/>
          <ac:picMkLst>
            <pc:docMk/>
            <pc:sldMk cId="3531121403" sldId="256"/>
            <ac:picMk id="8" creationId="{8D7AB4F0-1F8A-95F5-F49A-389EA040235D}"/>
          </ac:picMkLst>
        </pc:picChg>
        <pc:picChg chg="add mod ord">
          <ac:chgData name="Greenhalge, John (US)" userId="bb7f8b77-50c9-4468-9b17-64f3902d847f" providerId="ADAL" clId="{4C44CC90-51FD-4710-8AC7-03F2B200FE57}" dt="2026-08-10T21:58:19.333" v="192" actId="14100"/>
          <ac:picMkLst>
            <pc:docMk/>
            <pc:sldMk cId="3531121403" sldId="256"/>
            <ac:picMk id="11" creationId="{82C257E9-92DD-0F4B-F458-E3A92BFB985B}"/>
          </ac:picMkLst>
        </pc:picChg>
        <pc:picChg chg="add mod">
          <ac:chgData name="Greenhalge, John (US)" userId="bb7f8b77-50c9-4468-9b17-64f3902d847f" providerId="ADAL" clId="{4C44CC90-51FD-4710-8AC7-03F2B200FE57}" dt="2026-08-10T22:01:19.945" v="203" actId="14100"/>
          <ac:picMkLst>
            <pc:docMk/>
            <pc:sldMk cId="3531121403" sldId="256"/>
            <ac:picMk id="13" creationId="{BA8AC5D9-E9C2-76CB-CEC7-275846CB4CB7}"/>
          </ac:picMkLst>
        </pc:picChg>
        <pc:picChg chg="mod">
          <ac:chgData name="Greenhalge, John (US)" userId="bb7f8b77-50c9-4468-9b17-64f3902d847f" providerId="ADAL" clId="{4C44CC90-51FD-4710-8AC7-03F2B200FE57}" dt="2026-08-10T13:47:07.787" v="3"/>
          <ac:picMkLst>
            <pc:docMk/>
            <pc:sldMk cId="3531121403" sldId="256"/>
            <ac:picMk id="46" creationId="{C30DC021-D436-7058-7CE2-E519EC3B9CC8}"/>
          </ac:picMkLst>
        </pc:picChg>
        <pc:picChg chg="mod">
          <ac:chgData name="Greenhalge, John (US)" userId="bb7f8b77-50c9-4468-9b17-64f3902d847f" providerId="ADAL" clId="{4C44CC90-51FD-4710-8AC7-03F2B200FE57}" dt="2026-08-10T13:47:07.787" v="3"/>
          <ac:picMkLst>
            <pc:docMk/>
            <pc:sldMk cId="3531121403" sldId="256"/>
            <ac:picMk id="47" creationId="{3F882D99-1FC5-4865-AC56-0B5AA214E80A}"/>
          </ac:picMkLst>
        </pc:picChg>
        <pc:picChg chg="del">
          <ac:chgData name="Greenhalge, John (US)" userId="bb7f8b77-50c9-4468-9b17-64f3902d847f" providerId="ADAL" clId="{4C44CC90-51FD-4710-8AC7-03F2B200FE57}" dt="2026-08-10T21:56:22.345" v="180" actId="478"/>
          <ac:picMkLst>
            <pc:docMk/>
            <pc:sldMk cId="3531121403" sldId="256"/>
            <ac:picMk id="193" creationId="{A0CC4924-BF7F-D639-A150-3EE9297A6055}"/>
          </ac:picMkLst>
        </pc:picChg>
        <pc:picChg chg="del">
          <ac:chgData name="Greenhalge, John (US)" userId="bb7f8b77-50c9-4468-9b17-64f3902d847f" providerId="ADAL" clId="{4C44CC90-51FD-4710-8AC7-03F2B200FE57}" dt="2026-08-10T21:48:46.909" v="160" actId="478"/>
          <ac:picMkLst>
            <pc:docMk/>
            <pc:sldMk cId="3531121403" sldId="256"/>
            <ac:picMk id="197" creationId="{ADBFADDE-BA1F-57A9-D733-6892BECF42ED}"/>
          </ac:picMkLst>
        </pc:picChg>
        <pc:picChg chg="mod ord">
          <ac:chgData name="Greenhalge, John (US)" userId="bb7f8b77-50c9-4468-9b17-64f3902d847f" providerId="ADAL" clId="{4C44CC90-51FD-4710-8AC7-03F2B200FE57}" dt="2026-08-10T15:08:32.317" v="113" actId="34135"/>
          <ac:picMkLst>
            <pc:docMk/>
            <pc:sldMk cId="3531121403" sldId="256"/>
            <ac:picMk id="201" creationId="{719DF477-1F91-D35A-3D4C-78B5F5C7C90B}"/>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1C8147-6292-49FF-AE92-A20F09A3D7DA}"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en-US"/>
        </a:p>
      </dgm:t>
    </dgm:pt>
    <dgm:pt modelId="{7BA253A4-0A58-4677-B597-998683F319E8}">
      <dgm:prSet phldrT="[Text]" custT="1"/>
      <dgm:spPr>
        <a:solidFill>
          <a:schemeClr val="tx1">
            <a:lumMod val="85000"/>
            <a:lumOff val="15000"/>
          </a:schemeClr>
        </a:solidFill>
      </dgm:spPr>
      <dgm:t>
        <a:bodyPr/>
        <a:lstStyle/>
        <a:p>
          <a:pPr algn="ctr"/>
          <a:r>
            <a:rPr lang="en-US" sz="1800" dirty="0"/>
            <a:t>Biopharma Manufacturing</a:t>
          </a:r>
        </a:p>
      </dgm:t>
    </dgm:pt>
    <dgm:pt modelId="{C48B5708-3313-4554-8489-7B540CE1C0A4}" type="parTrans" cxnId="{CBDA103B-F4C9-4DFC-BDBB-AA2B9B8CD9CC}">
      <dgm:prSet/>
      <dgm:spPr/>
      <dgm:t>
        <a:bodyPr/>
        <a:lstStyle/>
        <a:p>
          <a:endParaRPr lang="en-US"/>
        </a:p>
      </dgm:t>
    </dgm:pt>
    <dgm:pt modelId="{BE1025B4-C2A4-4D4C-AFDE-30567BCE0487}" type="sibTrans" cxnId="{CBDA103B-F4C9-4DFC-BDBB-AA2B9B8CD9CC}">
      <dgm:prSet/>
      <dgm:spPr/>
      <dgm:t>
        <a:bodyPr/>
        <a:lstStyle/>
        <a:p>
          <a:endParaRPr lang="en-US"/>
        </a:p>
      </dgm:t>
    </dgm:pt>
    <dgm:pt modelId="{5262C406-6844-4968-8AB5-92AC91651035}">
      <dgm:prSet phldrT="[Text]" custT="1"/>
      <dgm:spPr>
        <a:solidFill>
          <a:schemeClr val="tx1">
            <a:lumMod val="85000"/>
            <a:lumOff val="15000"/>
          </a:schemeClr>
        </a:solidFill>
      </dgm:spPr>
      <dgm:t>
        <a:bodyPr vert="horz"/>
        <a:lstStyle/>
        <a:p>
          <a:pPr algn="ctr"/>
          <a:r>
            <a:rPr lang="en-US" sz="1800" dirty="0"/>
            <a:t>BSL-3/4 Laboratories</a:t>
          </a:r>
        </a:p>
      </dgm:t>
    </dgm:pt>
    <dgm:pt modelId="{ACFEF9CC-62E6-4DFC-873A-CD1DCB8E795A}" type="parTrans" cxnId="{14EAE438-E29C-4CC5-818E-BB22C817661E}">
      <dgm:prSet/>
      <dgm:spPr/>
      <dgm:t>
        <a:bodyPr/>
        <a:lstStyle/>
        <a:p>
          <a:endParaRPr lang="en-US"/>
        </a:p>
      </dgm:t>
    </dgm:pt>
    <dgm:pt modelId="{470FBF54-33CF-4A60-92E3-2F4A57F2B005}" type="sibTrans" cxnId="{14EAE438-E29C-4CC5-818E-BB22C817661E}">
      <dgm:prSet/>
      <dgm:spPr/>
      <dgm:t>
        <a:bodyPr/>
        <a:lstStyle/>
        <a:p>
          <a:endParaRPr lang="en-US"/>
        </a:p>
      </dgm:t>
    </dgm:pt>
    <dgm:pt modelId="{0BAE88F5-1170-4E08-B0D2-EBE87E45A54C}">
      <dgm:prSet phldrT="[Text]" custT="1"/>
      <dgm:spPr>
        <a:solidFill>
          <a:schemeClr val="tx1">
            <a:lumMod val="85000"/>
            <a:lumOff val="15000"/>
          </a:schemeClr>
        </a:solidFill>
      </dgm:spPr>
      <dgm:t>
        <a:bodyPr/>
        <a:lstStyle/>
        <a:p>
          <a:pPr algn="ctr"/>
          <a:r>
            <a:rPr lang="en-US" sz="1800" dirty="0"/>
            <a:t>Data Centers</a:t>
          </a:r>
        </a:p>
      </dgm:t>
    </dgm:pt>
    <dgm:pt modelId="{DF7A4F5D-4B7D-4595-89BF-A5D0E5F14F20}" type="parTrans" cxnId="{9EF9A263-2AFD-4C06-8C70-2165184A48B7}">
      <dgm:prSet/>
      <dgm:spPr/>
      <dgm:t>
        <a:bodyPr/>
        <a:lstStyle/>
        <a:p>
          <a:endParaRPr lang="en-US"/>
        </a:p>
      </dgm:t>
    </dgm:pt>
    <dgm:pt modelId="{06AD0F69-66DF-45F7-A03F-A0210B240795}" type="sibTrans" cxnId="{9EF9A263-2AFD-4C06-8C70-2165184A48B7}">
      <dgm:prSet/>
      <dgm:spPr/>
      <dgm:t>
        <a:bodyPr/>
        <a:lstStyle/>
        <a:p>
          <a:endParaRPr lang="en-US"/>
        </a:p>
      </dgm:t>
    </dgm:pt>
    <dgm:pt modelId="{C841419F-65E5-4025-BE77-B20C32F99B79}">
      <dgm:prSet custT="1"/>
      <dgm:spPr>
        <a:solidFill>
          <a:schemeClr val="tx1">
            <a:lumMod val="85000"/>
            <a:lumOff val="15000"/>
          </a:schemeClr>
        </a:solidFill>
      </dgm:spPr>
      <dgm:t>
        <a:bodyPr/>
        <a:lstStyle/>
        <a:p>
          <a:pPr algn="l"/>
          <a:r>
            <a:rPr lang="en-US" sz="1200" dirty="0"/>
            <a:t>Sterility Validation</a:t>
          </a:r>
          <a:endParaRPr lang="en-US" sz="1400" dirty="0"/>
        </a:p>
      </dgm:t>
    </dgm:pt>
    <dgm:pt modelId="{1DF84593-CA75-4CFB-B6BB-5BDEB737D4A3}" type="sibTrans" cxnId="{565C1F1B-D7B9-4866-8D4E-EEC6185DB859}">
      <dgm:prSet/>
      <dgm:spPr/>
      <dgm:t>
        <a:bodyPr/>
        <a:lstStyle/>
        <a:p>
          <a:endParaRPr lang="en-US"/>
        </a:p>
      </dgm:t>
    </dgm:pt>
    <dgm:pt modelId="{43C9F897-1B6E-49DC-8990-11FF868D4A9D}" type="parTrans" cxnId="{565C1F1B-D7B9-4866-8D4E-EEC6185DB859}">
      <dgm:prSet/>
      <dgm:spPr/>
      <dgm:t>
        <a:bodyPr/>
        <a:lstStyle/>
        <a:p>
          <a:endParaRPr lang="en-US"/>
        </a:p>
      </dgm:t>
    </dgm:pt>
    <dgm:pt modelId="{A2C4BDF0-52E6-4975-B17B-73BB8BB25D75}">
      <dgm:prSet phldrT="[Text]" custT="1"/>
      <dgm:spPr>
        <a:solidFill>
          <a:schemeClr val="tx1">
            <a:lumMod val="85000"/>
            <a:lumOff val="15000"/>
          </a:schemeClr>
        </a:solidFill>
      </dgm:spPr>
      <dgm:t>
        <a:bodyPr/>
        <a:lstStyle/>
        <a:p>
          <a:pPr algn="ctr"/>
          <a:r>
            <a:rPr lang="en-US" sz="1800" dirty="0"/>
            <a:t>Semiconductor Manufacturing</a:t>
          </a:r>
        </a:p>
      </dgm:t>
    </dgm:pt>
    <dgm:pt modelId="{B0778FB7-BE33-4660-AC6A-97C346572FF1}" type="sibTrans" cxnId="{923C2646-D83C-4BE0-88FA-CE0973846DD8}">
      <dgm:prSet/>
      <dgm:spPr/>
      <dgm:t>
        <a:bodyPr/>
        <a:lstStyle/>
        <a:p>
          <a:endParaRPr lang="en-US"/>
        </a:p>
      </dgm:t>
    </dgm:pt>
    <dgm:pt modelId="{E0D03D05-0465-4B93-9AD8-3EAA6ABC57F2}" type="parTrans" cxnId="{923C2646-D83C-4BE0-88FA-CE0973846DD8}">
      <dgm:prSet/>
      <dgm:spPr/>
      <dgm:t>
        <a:bodyPr/>
        <a:lstStyle/>
        <a:p>
          <a:endParaRPr lang="en-US"/>
        </a:p>
      </dgm:t>
    </dgm:pt>
    <dgm:pt modelId="{2ECC6E3E-9D41-437A-A920-1B7C7AF7A833}">
      <dgm:prSet phldrT="[Text]" custT="1"/>
      <dgm:spPr>
        <a:solidFill>
          <a:schemeClr val="tx1">
            <a:lumMod val="85000"/>
            <a:lumOff val="15000"/>
          </a:schemeClr>
        </a:solidFill>
      </dgm:spPr>
      <dgm:t>
        <a:bodyPr vert="horz"/>
        <a:lstStyle/>
        <a:p>
          <a:pPr algn="l"/>
          <a:r>
            <a:rPr lang="en-US" sz="1200" dirty="0"/>
            <a:t>Containment Assurance</a:t>
          </a:r>
        </a:p>
      </dgm:t>
    </dgm:pt>
    <dgm:pt modelId="{2482D192-49AF-42A7-8360-2EE46ADE3445}" type="parTrans" cxnId="{E74C08C2-5F49-4CE3-9BD8-5CFDFA539CC7}">
      <dgm:prSet/>
      <dgm:spPr/>
      <dgm:t>
        <a:bodyPr/>
        <a:lstStyle/>
        <a:p>
          <a:endParaRPr lang="en-US"/>
        </a:p>
      </dgm:t>
    </dgm:pt>
    <dgm:pt modelId="{3B02D07F-63AA-4EF6-A952-B98E6CA6DDF5}" type="sibTrans" cxnId="{E74C08C2-5F49-4CE3-9BD8-5CFDFA539CC7}">
      <dgm:prSet/>
      <dgm:spPr/>
      <dgm:t>
        <a:bodyPr/>
        <a:lstStyle/>
        <a:p>
          <a:endParaRPr lang="en-US"/>
        </a:p>
      </dgm:t>
    </dgm:pt>
    <dgm:pt modelId="{781FD5EE-46A2-47E3-99A8-4F16180FC4C7}">
      <dgm:prSet custT="1"/>
      <dgm:spPr>
        <a:solidFill>
          <a:schemeClr val="tx1">
            <a:lumMod val="85000"/>
            <a:lumOff val="15000"/>
          </a:schemeClr>
        </a:solidFill>
      </dgm:spPr>
      <dgm:t>
        <a:bodyPr/>
        <a:lstStyle/>
        <a:p>
          <a:pPr algn="l"/>
          <a:r>
            <a:rPr lang="en-US" sz="1200" dirty="0"/>
            <a:t>Yield Protection</a:t>
          </a:r>
        </a:p>
      </dgm:t>
    </dgm:pt>
    <dgm:pt modelId="{1268893F-2970-4F97-AFBA-5D3C64A41B84}" type="parTrans" cxnId="{BC8FB168-B1C1-4189-AD58-9D8C6DF650DB}">
      <dgm:prSet/>
      <dgm:spPr/>
      <dgm:t>
        <a:bodyPr/>
        <a:lstStyle/>
        <a:p>
          <a:endParaRPr lang="en-US"/>
        </a:p>
      </dgm:t>
    </dgm:pt>
    <dgm:pt modelId="{48D98F5E-06CB-4821-B16C-249F02CEF301}" type="sibTrans" cxnId="{BC8FB168-B1C1-4189-AD58-9D8C6DF650DB}">
      <dgm:prSet/>
      <dgm:spPr/>
      <dgm:t>
        <a:bodyPr/>
        <a:lstStyle/>
        <a:p>
          <a:endParaRPr lang="en-US"/>
        </a:p>
      </dgm:t>
    </dgm:pt>
    <dgm:pt modelId="{CD489EFA-2FBF-458E-8292-79B20515D108}">
      <dgm:prSet phldrT="[Text]" custT="1"/>
      <dgm:spPr>
        <a:solidFill>
          <a:schemeClr val="tx1">
            <a:lumMod val="85000"/>
            <a:lumOff val="15000"/>
          </a:schemeClr>
        </a:solidFill>
      </dgm:spPr>
      <dgm:t>
        <a:bodyPr vert="horz"/>
        <a:lstStyle/>
        <a:p>
          <a:pPr algn="l"/>
          <a:r>
            <a:rPr lang="en-US" sz="1200" dirty="0"/>
            <a:t>Inhalation research</a:t>
          </a:r>
        </a:p>
      </dgm:t>
    </dgm:pt>
    <dgm:pt modelId="{D7F44649-F8D0-4407-9797-84565D5FD3FB}" type="parTrans" cxnId="{95D0EFF2-3A95-4E35-B296-3212B5C3BC26}">
      <dgm:prSet/>
      <dgm:spPr/>
      <dgm:t>
        <a:bodyPr/>
        <a:lstStyle/>
        <a:p>
          <a:endParaRPr lang="en-US"/>
        </a:p>
      </dgm:t>
    </dgm:pt>
    <dgm:pt modelId="{74667A4A-1BB7-4B1D-8A92-616318060CBB}" type="sibTrans" cxnId="{95D0EFF2-3A95-4E35-B296-3212B5C3BC26}">
      <dgm:prSet/>
      <dgm:spPr/>
      <dgm:t>
        <a:bodyPr/>
        <a:lstStyle/>
        <a:p>
          <a:endParaRPr lang="en-US"/>
        </a:p>
      </dgm:t>
    </dgm:pt>
    <dgm:pt modelId="{B29B31D9-DEDE-4131-A686-0B929FA95C73}">
      <dgm:prSet custT="1"/>
      <dgm:spPr/>
      <dgm:t>
        <a:bodyPr/>
        <a:lstStyle/>
        <a:p>
          <a:r>
            <a:rPr lang="en-US" sz="1200" dirty="0"/>
            <a:t>Temp. regulation</a:t>
          </a:r>
        </a:p>
      </dgm:t>
    </dgm:pt>
    <dgm:pt modelId="{0F53A802-4682-4118-B78F-C320C2B414DE}" type="parTrans" cxnId="{D3EACECD-38D8-4CBB-897D-B7960377F17B}">
      <dgm:prSet/>
      <dgm:spPr/>
      <dgm:t>
        <a:bodyPr/>
        <a:lstStyle/>
        <a:p>
          <a:endParaRPr lang="en-US"/>
        </a:p>
      </dgm:t>
    </dgm:pt>
    <dgm:pt modelId="{1CB8F451-C3EE-4A04-BE67-7AA288379B97}" type="sibTrans" cxnId="{D3EACECD-38D8-4CBB-897D-B7960377F17B}">
      <dgm:prSet/>
      <dgm:spPr/>
      <dgm:t>
        <a:bodyPr/>
        <a:lstStyle/>
        <a:p>
          <a:endParaRPr lang="en-US"/>
        </a:p>
      </dgm:t>
    </dgm:pt>
    <dgm:pt modelId="{42ECD765-64EE-47ED-8C1E-58C8D5A7E652}">
      <dgm:prSet custT="1"/>
      <dgm:spPr>
        <a:solidFill>
          <a:schemeClr val="tx1">
            <a:lumMod val="85000"/>
            <a:lumOff val="15000"/>
          </a:schemeClr>
        </a:solidFill>
      </dgm:spPr>
      <dgm:t>
        <a:bodyPr/>
        <a:lstStyle/>
        <a:p>
          <a:pPr algn="l"/>
          <a:r>
            <a:rPr lang="en-US" sz="1200" dirty="0"/>
            <a:t>$755.3 billion market</a:t>
          </a:r>
          <a:r>
            <a:rPr lang="en-US" sz="1200" baseline="30000" dirty="0"/>
            <a:t>5</a:t>
          </a:r>
          <a:endParaRPr lang="en-US" sz="1200" dirty="0"/>
        </a:p>
      </dgm:t>
    </dgm:pt>
    <dgm:pt modelId="{43703F11-F4FC-4E35-88B3-D8C054B95988}" type="parTrans" cxnId="{2847655F-5A80-4106-966C-6CA842B15DA0}">
      <dgm:prSet/>
      <dgm:spPr/>
      <dgm:t>
        <a:bodyPr/>
        <a:lstStyle/>
        <a:p>
          <a:endParaRPr lang="en-US"/>
        </a:p>
      </dgm:t>
    </dgm:pt>
    <dgm:pt modelId="{0B57E971-2478-464B-AEBB-AB8E04A3350C}" type="sibTrans" cxnId="{2847655F-5A80-4106-966C-6CA842B15DA0}">
      <dgm:prSet/>
      <dgm:spPr/>
      <dgm:t>
        <a:bodyPr/>
        <a:lstStyle/>
        <a:p>
          <a:endParaRPr lang="en-US"/>
        </a:p>
      </dgm:t>
    </dgm:pt>
    <dgm:pt modelId="{430F23B1-93FC-4FDE-9F33-9E309CEC388F}">
      <dgm:prSet custT="1"/>
      <dgm:spPr/>
      <dgm:t>
        <a:bodyPr/>
        <a:lstStyle/>
        <a:p>
          <a:r>
            <a:rPr lang="en-US" sz="1200" dirty="0"/>
            <a:t>$269.8 billion market</a:t>
          </a:r>
          <a:r>
            <a:rPr lang="en-US" sz="1200" baseline="30000" dirty="0"/>
            <a:t>4</a:t>
          </a:r>
          <a:endParaRPr lang="en-US" sz="1200" dirty="0"/>
        </a:p>
      </dgm:t>
    </dgm:pt>
    <dgm:pt modelId="{DD32B23E-4EFC-4AD5-9831-C4F078219C66}" type="parTrans" cxnId="{19E539FD-48E9-48A7-A6D4-12936A0378F7}">
      <dgm:prSet/>
      <dgm:spPr/>
      <dgm:t>
        <a:bodyPr/>
        <a:lstStyle/>
        <a:p>
          <a:endParaRPr lang="en-US"/>
        </a:p>
      </dgm:t>
    </dgm:pt>
    <dgm:pt modelId="{B9C20822-EBA7-4831-B003-1D964D141FE2}" type="sibTrans" cxnId="{19E539FD-48E9-48A7-A6D4-12936A0378F7}">
      <dgm:prSet/>
      <dgm:spPr/>
      <dgm:t>
        <a:bodyPr/>
        <a:lstStyle/>
        <a:p>
          <a:endParaRPr lang="en-US"/>
        </a:p>
      </dgm:t>
    </dgm:pt>
    <dgm:pt modelId="{ECFD8D0D-AB96-446D-93F3-6CC3BFFC13C0}">
      <dgm:prSet custT="1"/>
      <dgm:spPr>
        <a:solidFill>
          <a:schemeClr val="tx1">
            <a:lumMod val="85000"/>
            <a:lumOff val="15000"/>
          </a:schemeClr>
        </a:solidFill>
      </dgm:spPr>
      <dgm:t>
        <a:bodyPr/>
        <a:lstStyle/>
        <a:p>
          <a:pPr algn="l"/>
          <a:endParaRPr lang="en-US" sz="1600" dirty="0"/>
        </a:p>
      </dgm:t>
    </dgm:pt>
    <dgm:pt modelId="{AC024F86-593D-4FAA-8EDF-555265C888B7}" type="parTrans" cxnId="{6F0B1664-BF3E-47DD-A200-5361F5D47457}">
      <dgm:prSet/>
      <dgm:spPr/>
      <dgm:t>
        <a:bodyPr/>
        <a:lstStyle/>
        <a:p>
          <a:endParaRPr lang="en-US"/>
        </a:p>
      </dgm:t>
    </dgm:pt>
    <dgm:pt modelId="{1F8E59F6-8513-49F7-8E96-DEB57E85FD13}" type="sibTrans" cxnId="{6F0B1664-BF3E-47DD-A200-5361F5D47457}">
      <dgm:prSet/>
      <dgm:spPr/>
      <dgm:t>
        <a:bodyPr/>
        <a:lstStyle/>
        <a:p>
          <a:endParaRPr lang="en-US"/>
        </a:p>
      </dgm:t>
    </dgm:pt>
    <dgm:pt modelId="{2D4473DA-640C-4D87-8432-8A245CFD3F29}">
      <dgm:prSet phldrT="[Text]" custT="1"/>
      <dgm:spPr>
        <a:solidFill>
          <a:schemeClr val="tx1">
            <a:lumMod val="85000"/>
            <a:lumOff val="15000"/>
          </a:schemeClr>
        </a:solidFill>
      </dgm:spPr>
      <dgm:t>
        <a:bodyPr vert="horz"/>
        <a:lstStyle/>
        <a:p>
          <a:pPr algn="l"/>
          <a:r>
            <a:rPr lang="en-US" sz="1200" dirty="0"/>
            <a:t>$3.5 billion market</a:t>
          </a:r>
          <a:r>
            <a:rPr lang="en-US" sz="1200" baseline="30000" dirty="0"/>
            <a:t>6</a:t>
          </a:r>
          <a:endParaRPr lang="en-US" sz="1200" dirty="0"/>
        </a:p>
      </dgm:t>
    </dgm:pt>
    <dgm:pt modelId="{55949C31-B5CE-48F4-A2F0-A2B0934C9103}" type="parTrans" cxnId="{34345E15-2DAA-45E3-8632-FC5635BBC3C3}">
      <dgm:prSet/>
      <dgm:spPr/>
      <dgm:t>
        <a:bodyPr/>
        <a:lstStyle/>
        <a:p>
          <a:endParaRPr lang="en-US"/>
        </a:p>
      </dgm:t>
    </dgm:pt>
    <dgm:pt modelId="{51EDB08E-C70F-4BA1-99D3-9ED5F5558649}" type="sibTrans" cxnId="{34345E15-2DAA-45E3-8632-FC5635BBC3C3}">
      <dgm:prSet/>
      <dgm:spPr/>
      <dgm:t>
        <a:bodyPr/>
        <a:lstStyle/>
        <a:p>
          <a:endParaRPr lang="en-US"/>
        </a:p>
      </dgm:t>
    </dgm:pt>
    <dgm:pt modelId="{52798BB1-864C-469F-91A9-9DEB43B43686}">
      <dgm:prSet custT="1"/>
      <dgm:spPr>
        <a:solidFill>
          <a:schemeClr val="tx1">
            <a:lumMod val="85000"/>
            <a:lumOff val="15000"/>
          </a:schemeClr>
        </a:solidFill>
      </dgm:spPr>
      <dgm:t>
        <a:bodyPr/>
        <a:lstStyle/>
        <a:p>
          <a:pPr algn="l"/>
          <a:endParaRPr lang="en-US" sz="1600" dirty="0"/>
        </a:p>
      </dgm:t>
    </dgm:pt>
    <dgm:pt modelId="{216B6ADC-EE90-430F-9A28-E320B7605250}" type="parTrans" cxnId="{7E8D07E6-67FA-44A2-AD49-70409D5CBD57}">
      <dgm:prSet/>
      <dgm:spPr/>
      <dgm:t>
        <a:bodyPr/>
        <a:lstStyle/>
        <a:p>
          <a:endParaRPr lang="en-US"/>
        </a:p>
      </dgm:t>
    </dgm:pt>
    <dgm:pt modelId="{1EB86A4B-B842-4D1B-B511-2A9861539756}" type="sibTrans" cxnId="{7E8D07E6-67FA-44A2-AD49-70409D5CBD57}">
      <dgm:prSet/>
      <dgm:spPr/>
      <dgm:t>
        <a:bodyPr/>
        <a:lstStyle/>
        <a:p>
          <a:endParaRPr lang="en-US"/>
        </a:p>
      </dgm:t>
    </dgm:pt>
    <dgm:pt modelId="{3FDB9FB8-EB1A-4BEE-9015-0B325037124E}">
      <dgm:prSet custT="1"/>
      <dgm:spPr>
        <a:solidFill>
          <a:schemeClr val="tx1">
            <a:lumMod val="85000"/>
            <a:lumOff val="15000"/>
          </a:schemeClr>
        </a:solidFill>
      </dgm:spPr>
      <dgm:t>
        <a:bodyPr/>
        <a:lstStyle/>
        <a:p>
          <a:pPr algn="l"/>
          <a:r>
            <a:rPr lang="en-US" sz="1200" dirty="0"/>
            <a:t>$1.8 trillion market</a:t>
          </a:r>
          <a:r>
            <a:rPr lang="en-US" sz="1200" baseline="30000" dirty="0"/>
            <a:t>7</a:t>
          </a:r>
          <a:endParaRPr lang="en-US" sz="1200" dirty="0"/>
        </a:p>
      </dgm:t>
    </dgm:pt>
    <dgm:pt modelId="{F1346CED-910D-464A-89E8-9B1812E85F95}" type="parTrans" cxnId="{88584D59-901E-4845-B6CC-4718D174C734}">
      <dgm:prSet/>
      <dgm:spPr/>
      <dgm:t>
        <a:bodyPr/>
        <a:lstStyle/>
        <a:p>
          <a:endParaRPr lang="en-US"/>
        </a:p>
      </dgm:t>
    </dgm:pt>
    <dgm:pt modelId="{90E8AFCB-BE62-41D2-A359-794B92C072AF}" type="sibTrans" cxnId="{88584D59-901E-4845-B6CC-4718D174C734}">
      <dgm:prSet/>
      <dgm:spPr/>
      <dgm:t>
        <a:bodyPr/>
        <a:lstStyle/>
        <a:p>
          <a:endParaRPr lang="en-US"/>
        </a:p>
      </dgm:t>
    </dgm:pt>
    <dgm:pt modelId="{BD3BB5D8-2B41-437E-B306-EDFAB68AF0DB}" type="pres">
      <dgm:prSet presAssocID="{101C8147-6292-49FF-AE92-A20F09A3D7DA}" presName="Name0" presStyleCnt="0">
        <dgm:presLayoutVars>
          <dgm:dir/>
          <dgm:resizeHandles val="exact"/>
        </dgm:presLayoutVars>
      </dgm:prSet>
      <dgm:spPr/>
    </dgm:pt>
    <dgm:pt modelId="{B9945BF8-567F-49C2-840F-453B23F2B886}" type="pres">
      <dgm:prSet presAssocID="{101C8147-6292-49FF-AE92-A20F09A3D7DA}" presName="bkgdShp" presStyleLbl="alignAccFollowNode1" presStyleIdx="0" presStyleCnt="1"/>
      <dgm:spPr/>
    </dgm:pt>
    <dgm:pt modelId="{4E9CF0B7-96AF-4278-98C5-1BEFF3D3BB0F}" type="pres">
      <dgm:prSet presAssocID="{101C8147-6292-49FF-AE92-A20F09A3D7DA}" presName="linComp" presStyleCnt="0"/>
      <dgm:spPr/>
    </dgm:pt>
    <dgm:pt modelId="{FD453B15-FF57-4963-A5D2-83C0B1754907}" type="pres">
      <dgm:prSet presAssocID="{7BA253A4-0A58-4677-B597-998683F319E8}" presName="compNode" presStyleCnt="0"/>
      <dgm:spPr/>
    </dgm:pt>
    <dgm:pt modelId="{36BDF9EB-FEB6-45EC-88AC-D81CFF128914}" type="pres">
      <dgm:prSet presAssocID="{7BA253A4-0A58-4677-B597-998683F319E8}" presName="node" presStyleLbl="node1" presStyleIdx="0" presStyleCnt="4">
        <dgm:presLayoutVars>
          <dgm:bulletEnabled val="1"/>
        </dgm:presLayoutVars>
      </dgm:prSet>
      <dgm:spPr/>
    </dgm:pt>
    <dgm:pt modelId="{E7F12D2A-FC72-4FA1-B6B5-52270E12F7E8}" type="pres">
      <dgm:prSet presAssocID="{7BA253A4-0A58-4677-B597-998683F319E8}" presName="invisiNode" presStyleLbl="node1" presStyleIdx="0" presStyleCnt="4"/>
      <dgm:spPr/>
    </dgm:pt>
    <dgm:pt modelId="{96505602-A768-4055-9E99-C07A649B0EE6}" type="pres">
      <dgm:prSet presAssocID="{7BA253A4-0A58-4677-B597-998683F319E8}" presName="imagNode" presStyleLbl="fgImgPlace1" presStyleIdx="0" presStyleCnt="4"/>
      <dgm:spPr>
        <a:blipFill>
          <a:blip xmlns:r="http://schemas.openxmlformats.org/officeDocument/2006/relationships">
            <a:extLst>
              <a:ext uri="{96DAC541-7B7A-43D3-8B79-37D633B846F1}">
                <asvg:svgBlip xmlns:asvg="http://schemas.microsoft.com/office/drawing/2016/SVG/main" r:embed="rId1"/>
              </a:ext>
            </a:extLst>
          </a:blip>
          <a:stretch>
            <a:fillRect t="-8000" b="-8000"/>
          </a:stretch>
        </a:blipFill>
      </dgm:spPr>
    </dgm:pt>
    <dgm:pt modelId="{961AC48A-941D-4776-87CD-EA40F15AF1F7}" type="pres">
      <dgm:prSet presAssocID="{BE1025B4-C2A4-4D4C-AFDE-30567BCE0487}" presName="sibTrans" presStyleLbl="sibTrans2D1" presStyleIdx="0" presStyleCnt="0"/>
      <dgm:spPr/>
    </dgm:pt>
    <dgm:pt modelId="{B8A05B72-A832-48D9-871E-A471F18E0194}" type="pres">
      <dgm:prSet presAssocID="{5262C406-6844-4968-8AB5-92AC91651035}" presName="compNode" presStyleCnt="0"/>
      <dgm:spPr/>
    </dgm:pt>
    <dgm:pt modelId="{1374AE07-302D-4D64-AB71-09597A9351C4}" type="pres">
      <dgm:prSet presAssocID="{5262C406-6844-4968-8AB5-92AC91651035}" presName="node" presStyleLbl="node1" presStyleIdx="1" presStyleCnt="4">
        <dgm:presLayoutVars>
          <dgm:bulletEnabled val="1"/>
        </dgm:presLayoutVars>
      </dgm:prSet>
      <dgm:spPr>
        <a:xfrm rot="10800000">
          <a:off x="2781245" y="2649779"/>
          <a:ext cx="2245520" cy="3238618"/>
        </a:xfrm>
      </dgm:spPr>
    </dgm:pt>
    <dgm:pt modelId="{697238E6-B14B-45FF-A4EC-0369E3B4A4AB}" type="pres">
      <dgm:prSet presAssocID="{5262C406-6844-4968-8AB5-92AC91651035}" presName="invisiNode" presStyleLbl="node1" presStyleIdx="1" presStyleCnt="4"/>
      <dgm:spPr/>
    </dgm:pt>
    <dgm:pt modelId="{ED0A8E40-9A09-419F-B615-51210E7550B3}" type="pres">
      <dgm:prSet presAssocID="{5262C406-6844-4968-8AB5-92AC91651035}" presName="imagNode" presStyleLbl="fg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t="-8000" b="-8000"/>
          </a:stretch>
        </a:blipFill>
      </dgm:spPr>
      <dgm:extLst>
        <a:ext uri="{E40237B7-FDA0-4F09-8148-C483321AD2D9}">
          <dgm14:cNvPr xmlns:dgm14="http://schemas.microsoft.com/office/drawing/2010/diagram" id="0" name="" descr="Bio-hazard with solid fill"/>
        </a:ext>
      </dgm:extLst>
    </dgm:pt>
    <dgm:pt modelId="{D93D4877-EED8-4E17-A377-0A173F239EFA}" type="pres">
      <dgm:prSet presAssocID="{470FBF54-33CF-4A60-92E3-2F4A57F2B005}" presName="sibTrans" presStyleLbl="sibTrans2D1" presStyleIdx="0" presStyleCnt="0"/>
      <dgm:spPr/>
    </dgm:pt>
    <dgm:pt modelId="{C34134A2-17C4-4DED-A840-98A2082DEB0C}" type="pres">
      <dgm:prSet presAssocID="{A2C4BDF0-52E6-4975-B17B-73BB8BB25D75}" presName="compNode" presStyleCnt="0"/>
      <dgm:spPr/>
    </dgm:pt>
    <dgm:pt modelId="{FCDF5987-A525-48D4-BDF0-1E342F99797E}" type="pres">
      <dgm:prSet presAssocID="{A2C4BDF0-52E6-4975-B17B-73BB8BB25D75}" presName="node" presStyleLbl="node1" presStyleIdx="2" presStyleCnt="4">
        <dgm:presLayoutVars>
          <dgm:bulletEnabled val="1"/>
        </dgm:presLayoutVars>
      </dgm:prSet>
      <dgm:spPr/>
    </dgm:pt>
    <dgm:pt modelId="{8A4B2AF7-0474-4614-8241-AF79FA5CBCFA}" type="pres">
      <dgm:prSet presAssocID="{A2C4BDF0-52E6-4975-B17B-73BB8BB25D75}" presName="invisiNode" presStyleLbl="node1" presStyleIdx="2" presStyleCnt="4"/>
      <dgm:spPr/>
    </dgm:pt>
    <dgm:pt modelId="{8C06CE98-B965-421B-A1BD-6A7E76B4F678}" type="pres">
      <dgm:prSet presAssocID="{A2C4BDF0-52E6-4975-B17B-73BB8BB25D75}" presName="imagNode"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t="-8000" b="-8000"/>
          </a:stretch>
        </a:blipFill>
      </dgm:spPr>
      <dgm:extLst>
        <a:ext uri="{E40237B7-FDA0-4F09-8148-C483321AD2D9}">
          <dgm14:cNvPr xmlns:dgm14="http://schemas.microsoft.com/office/drawing/2010/diagram" id="0" name="" descr="Processor with solid fill"/>
        </a:ext>
      </dgm:extLst>
    </dgm:pt>
    <dgm:pt modelId="{3BE3DDE0-D632-4D7B-B0AF-052C36C482B7}" type="pres">
      <dgm:prSet presAssocID="{B0778FB7-BE33-4660-AC6A-97C346572FF1}" presName="sibTrans" presStyleLbl="sibTrans2D1" presStyleIdx="0" presStyleCnt="0"/>
      <dgm:spPr/>
    </dgm:pt>
    <dgm:pt modelId="{5EBFA57C-2D34-452F-8DE2-C78394C0EC15}" type="pres">
      <dgm:prSet presAssocID="{0BAE88F5-1170-4E08-B0D2-EBE87E45A54C}" presName="compNode" presStyleCnt="0"/>
      <dgm:spPr/>
    </dgm:pt>
    <dgm:pt modelId="{A147B53A-35ED-47BA-B6E9-B8D23590DC64}" type="pres">
      <dgm:prSet presAssocID="{0BAE88F5-1170-4E08-B0D2-EBE87E45A54C}" presName="node" presStyleLbl="node1" presStyleIdx="3" presStyleCnt="4" custScaleX="108968">
        <dgm:presLayoutVars>
          <dgm:bulletEnabled val="1"/>
        </dgm:presLayoutVars>
      </dgm:prSet>
      <dgm:spPr/>
    </dgm:pt>
    <dgm:pt modelId="{55B4DED7-F8D8-4881-88B9-5F4DDDA98CB9}" type="pres">
      <dgm:prSet presAssocID="{0BAE88F5-1170-4E08-B0D2-EBE87E45A54C}" presName="invisiNode" presStyleLbl="node1" presStyleIdx="3" presStyleCnt="4"/>
      <dgm:spPr/>
    </dgm:pt>
    <dgm:pt modelId="{4AFD9DCB-13B8-498F-9377-85536CB6A943}" type="pres">
      <dgm:prSet presAssocID="{0BAE88F5-1170-4E08-B0D2-EBE87E45A54C}" presName="imagNode" presStyleLbl="fgImgPlace1" presStyleIdx="3" presStyleCnt="4"/>
      <dgm:spPr>
        <a:blipFill>
          <a:blip xmlns:r="http://schemas.openxmlformats.org/officeDocument/2006/relationships">
            <a:extLst>
              <a:ext uri="{96DAC541-7B7A-43D3-8B79-37D633B846F1}">
                <asvg:svgBlip xmlns:asvg="http://schemas.microsoft.com/office/drawing/2016/SVG/main" r:embed="rId4"/>
              </a:ext>
            </a:extLst>
          </a:blip>
          <a:stretch>
            <a:fillRect t="-8000" b="-8000"/>
          </a:stretch>
        </a:blipFill>
      </dgm:spPr>
      <dgm:extLst>
        <a:ext uri="{E40237B7-FDA0-4F09-8148-C483321AD2D9}">
          <dgm14:cNvPr xmlns:dgm14="http://schemas.microsoft.com/office/drawing/2010/diagram" id="0" name="" descr="Internet Of Things outline"/>
        </a:ext>
      </dgm:extLst>
    </dgm:pt>
  </dgm:ptLst>
  <dgm:cxnLst>
    <dgm:cxn modelId="{872A3110-72CE-4403-84A5-6C473BE07936}" type="presOf" srcId="{101C8147-6292-49FF-AE92-A20F09A3D7DA}" destId="{BD3BB5D8-2B41-437E-B306-EDFAB68AF0DB}" srcOrd="0" destOrd="0" presId="urn:microsoft.com/office/officeart/2005/8/layout/pList2"/>
    <dgm:cxn modelId="{34345E15-2DAA-45E3-8632-FC5635BBC3C3}" srcId="{5262C406-6844-4968-8AB5-92AC91651035}" destId="{2D4473DA-640C-4D87-8432-8A245CFD3F29}" srcOrd="2" destOrd="0" parTransId="{55949C31-B5CE-48F4-A2F0-A2B0934C9103}" sibTransId="{51EDB08E-C70F-4BA1-99D3-9ED5F5558649}"/>
    <dgm:cxn modelId="{565C1F1B-D7B9-4866-8D4E-EEC6185DB859}" srcId="{7BA253A4-0A58-4677-B597-998683F319E8}" destId="{C841419F-65E5-4025-BE77-B20C32F99B79}" srcOrd="0" destOrd="0" parTransId="{43C9F897-1B6E-49DC-8990-11FF868D4A9D}" sibTransId="{1DF84593-CA75-4CFB-B6BB-5BDEB737D4A3}"/>
    <dgm:cxn modelId="{B29C9B2B-0F59-4271-9316-F3D067F711A2}" type="presOf" srcId="{B0778FB7-BE33-4660-AC6A-97C346572FF1}" destId="{3BE3DDE0-D632-4D7B-B0AF-052C36C482B7}" srcOrd="0" destOrd="0" presId="urn:microsoft.com/office/officeart/2005/8/layout/pList2"/>
    <dgm:cxn modelId="{1D848638-C441-4EDD-ADF5-00DF483A8550}" type="presOf" srcId="{C841419F-65E5-4025-BE77-B20C32F99B79}" destId="{36BDF9EB-FEB6-45EC-88AC-D81CFF128914}" srcOrd="0" destOrd="1" presId="urn:microsoft.com/office/officeart/2005/8/layout/pList2"/>
    <dgm:cxn modelId="{14EAE438-E29C-4CC5-818E-BB22C817661E}" srcId="{101C8147-6292-49FF-AE92-A20F09A3D7DA}" destId="{5262C406-6844-4968-8AB5-92AC91651035}" srcOrd="1" destOrd="0" parTransId="{ACFEF9CC-62E6-4DFC-873A-CD1DCB8E795A}" sibTransId="{470FBF54-33CF-4A60-92E3-2F4A57F2B005}"/>
    <dgm:cxn modelId="{CBDA103B-F4C9-4DFC-BDBB-AA2B9B8CD9CC}" srcId="{101C8147-6292-49FF-AE92-A20F09A3D7DA}" destId="{7BA253A4-0A58-4677-B597-998683F319E8}" srcOrd="0" destOrd="0" parTransId="{C48B5708-3313-4554-8489-7B540CE1C0A4}" sibTransId="{BE1025B4-C2A4-4D4C-AFDE-30567BCE0487}"/>
    <dgm:cxn modelId="{924C265C-0CEE-4404-A39E-D4EF85EF77B9}" type="presOf" srcId="{BE1025B4-C2A4-4D4C-AFDE-30567BCE0487}" destId="{961AC48A-941D-4776-87CD-EA40F15AF1F7}" srcOrd="0" destOrd="0" presId="urn:microsoft.com/office/officeart/2005/8/layout/pList2"/>
    <dgm:cxn modelId="{2A99195E-A824-4C49-9C8F-7DDF739440CC}" type="presOf" srcId="{3FDB9FB8-EB1A-4BEE-9015-0B325037124E}" destId="{36BDF9EB-FEB6-45EC-88AC-D81CFF128914}" srcOrd="0" destOrd="2" presId="urn:microsoft.com/office/officeart/2005/8/layout/pList2"/>
    <dgm:cxn modelId="{2847655F-5A80-4106-966C-6CA842B15DA0}" srcId="{A2C4BDF0-52E6-4975-B17B-73BB8BB25D75}" destId="{42ECD765-64EE-47ED-8C1E-58C8D5A7E652}" srcOrd="1" destOrd="0" parTransId="{43703F11-F4FC-4E35-88B3-D8C054B95988}" sibTransId="{0B57E971-2478-464B-AEBB-AB8E04A3350C}"/>
    <dgm:cxn modelId="{9EF9A263-2AFD-4C06-8C70-2165184A48B7}" srcId="{101C8147-6292-49FF-AE92-A20F09A3D7DA}" destId="{0BAE88F5-1170-4E08-B0D2-EBE87E45A54C}" srcOrd="3" destOrd="0" parTransId="{DF7A4F5D-4B7D-4595-89BF-A5D0E5F14F20}" sibTransId="{06AD0F69-66DF-45F7-A03F-A0210B240795}"/>
    <dgm:cxn modelId="{6F0B1664-BF3E-47DD-A200-5361F5D47457}" srcId="{7BA253A4-0A58-4677-B597-998683F319E8}" destId="{ECFD8D0D-AB96-446D-93F3-6CC3BFFC13C0}" srcOrd="3" destOrd="0" parTransId="{AC024F86-593D-4FAA-8EDF-555265C888B7}" sibTransId="{1F8E59F6-8513-49F7-8E96-DEB57E85FD13}"/>
    <dgm:cxn modelId="{83726645-006F-400B-A227-35F9F8AD03A1}" type="presOf" srcId="{B29B31D9-DEDE-4131-A686-0B929FA95C73}" destId="{A147B53A-35ED-47BA-B6E9-B8D23590DC64}" srcOrd="0" destOrd="1" presId="urn:microsoft.com/office/officeart/2005/8/layout/pList2"/>
    <dgm:cxn modelId="{923C2646-D83C-4BE0-88FA-CE0973846DD8}" srcId="{101C8147-6292-49FF-AE92-A20F09A3D7DA}" destId="{A2C4BDF0-52E6-4975-B17B-73BB8BB25D75}" srcOrd="2" destOrd="0" parTransId="{E0D03D05-0465-4B93-9AD8-3EAA6ABC57F2}" sibTransId="{B0778FB7-BE33-4660-AC6A-97C346572FF1}"/>
    <dgm:cxn modelId="{B7612D46-9BB9-458B-B804-8811053DFC16}" type="presOf" srcId="{430F23B1-93FC-4FDE-9F33-9E309CEC388F}" destId="{A147B53A-35ED-47BA-B6E9-B8D23590DC64}" srcOrd="0" destOrd="2" presId="urn:microsoft.com/office/officeart/2005/8/layout/pList2"/>
    <dgm:cxn modelId="{BC8FB168-B1C1-4189-AD58-9D8C6DF650DB}" srcId="{A2C4BDF0-52E6-4975-B17B-73BB8BB25D75}" destId="{781FD5EE-46A2-47E3-99A8-4F16180FC4C7}" srcOrd="0" destOrd="0" parTransId="{1268893F-2970-4F97-AFBA-5D3C64A41B84}" sibTransId="{48D98F5E-06CB-4821-B16C-249F02CEF301}"/>
    <dgm:cxn modelId="{6F49D54C-5CD6-494A-A037-5B90DFBC66A6}" type="presOf" srcId="{470FBF54-33CF-4A60-92E3-2F4A57F2B005}" destId="{D93D4877-EED8-4E17-A377-0A173F239EFA}" srcOrd="0" destOrd="0" presId="urn:microsoft.com/office/officeart/2005/8/layout/pList2"/>
    <dgm:cxn modelId="{E0D17D70-C149-45C6-AE3E-9566C1721D0A}" type="presOf" srcId="{52798BB1-864C-469F-91A9-9DEB43B43686}" destId="{36BDF9EB-FEB6-45EC-88AC-D81CFF128914}" srcOrd="0" destOrd="3" presId="urn:microsoft.com/office/officeart/2005/8/layout/pList2"/>
    <dgm:cxn modelId="{D17C9571-B632-4B63-A746-77ED7D22DC0D}" type="presOf" srcId="{0BAE88F5-1170-4E08-B0D2-EBE87E45A54C}" destId="{A147B53A-35ED-47BA-B6E9-B8D23590DC64}" srcOrd="0" destOrd="0" presId="urn:microsoft.com/office/officeart/2005/8/layout/pList2"/>
    <dgm:cxn modelId="{88584D59-901E-4845-B6CC-4718D174C734}" srcId="{7BA253A4-0A58-4677-B597-998683F319E8}" destId="{3FDB9FB8-EB1A-4BEE-9015-0B325037124E}" srcOrd="1" destOrd="0" parTransId="{F1346CED-910D-464A-89E8-9B1812E85F95}" sibTransId="{90E8AFCB-BE62-41D2-A359-794B92C072AF}"/>
    <dgm:cxn modelId="{05E0DD83-36B0-413C-AB79-89375690D752}" type="presOf" srcId="{2ECC6E3E-9D41-437A-A920-1B7C7AF7A833}" destId="{1374AE07-302D-4D64-AB71-09597A9351C4}" srcOrd="0" destOrd="1" presId="urn:microsoft.com/office/officeart/2005/8/layout/pList2"/>
    <dgm:cxn modelId="{4CA7A584-07B9-4964-B42B-4840DA91EDEF}" type="presOf" srcId="{CD489EFA-2FBF-458E-8292-79B20515D108}" destId="{1374AE07-302D-4D64-AB71-09597A9351C4}" srcOrd="0" destOrd="2" presId="urn:microsoft.com/office/officeart/2005/8/layout/pList2"/>
    <dgm:cxn modelId="{84072F8C-C568-41F4-97E6-D86CC764FDBE}" type="presOf" srcId="{A2C4BDF0-52E6-4975-B17B-73BB8BB25D75}" destId="{FCDF5987-A525-48D4-BDF0-1E342F99797E}" srcOrd="0" destOrd="0" presId="urn:microsoft.com/office/officeart/2005/8/layout/pList2"/>
    <dgm:cxn modelId="{70FDB190-BF0D-4973-A2FF-89B0958CDC23}" type="presOf" srcId="{ECFD8D0D-AB96-446D-93F3-6CC3BFFC13C0}" destId="{36BDF9EB-FEB6-45EC-88AC-D81CFF128914}" srcOrd="0" destOrd="4" presId="urn:microsoft.com/office/officeart/2005/8/layout/pList2"/>
    <dgm:cxn modelId="{E74C08C2-5F49-4CE3-9BD8-5CFDFA539CC7}" srcId="{5262C406-6844-4968-8AB5-92AC91651035}" destId="{2ECC6E3E-9D41-437A-A920-1B7C7AF7A833}" srcOrd="0" destOrd="0" parTransId="{2482D192-49AF-42A7-8360-2EE46ADE3445}" sibTransId="{3B02D07F-63AA-4EF6-A952-B98E6CA6DDF5}"/>
    <dgm:cxn modelId="{95908CCB-1FA9-4E34-85D2-7D2B58241E38}" type="presOf" srcId="{5262C406-6844-4968-8AB5-92AC91651035}" destId="{1374AE07-302D-4D64-AB71-09597A9351C4}" srcOrd="0" destOrd="0" presId="urn:microsoft.com/office/officeart/2005/8/layout/pList2"/>
    <dgm:cxn modelId="{D3EACECD-38D8-4CBB-897D-B7960377F17B}" srcId="{0BAE88F5-1170-4E08-B0D2-EBE87E45A54C}" destId="{B29B31D9-DEDE-4131-A686-0B929FA95C73}" srcOrd="0" destOrd="0" parTransId="{0F53A802-4682-4118-B78F-C320C2B414DE}" sibTransId="{1CB8F451-C3EE-4A04-BE67-7AA288379B97}"/>
    <dgm:cxn modelId="{70146BDC-118C-4BDB-AAE5-8B52BEAC606C}" type="presOf" srcId="{7BA253A4-0A58-4677-B597-998683F319E8}" destId="{36BDF9EB-FEB6-45EC-88AC-D81CFF128914}" srcOrd="0" destOrd="0" presId="urn:microsoft.com/office/officeart/2005/8/layout/pList2"/>
    <dgm:cxn modelId="{7E8D07E6-67FA-44A2-AD49-70409D5CBD57}" srcId="{7BA253A4-0A58-4677-B597-998683F319E8}" destId="{52798BB1-864C-469F-91A9-9DEB43B43686}" srcOrd="2" destOrd="0" parTransId="{216B6ADC-EE90-430F-9A28-E320B7605250}" sibTransId="{1EB86A4B-B842-4D1B-B511-2A9861539756}"/>
    <dgm:cxn modelId="{1E3BBCE6-C8A3-467D-B562-1CB95273AB08}" type="presOf" srcId="{2D4473DA-640C-4D87-8432-8A245CFD3F29}" destId="{1374AE07-302D-4D64-AB71-09597A9351C4}" srcOrd="0" destOrd="3" presId="urn:microsoft.com/office/officeart/2005/8/layout/pList2"/>
    <dgm:cxn modelId="{A86407F1-136A-42B1-9103-7B936B184C29}" type="presOf" srcId="{781FD5EE-46A2-47E3-99A8-4F16180FC4C7}" destId="{FCDF5987-A525-48D4-BDF0-1E342F99797E}" srcOrd="0" destOrd="1" presId="urn:microsoft.com/office/officeart/2005/8/layout/pList2"/>
    <dgm:cxn modelId="{95D0EFF2-3A95-4E35-B296-3212B5C3BC26}" srcId="{5262C406-6844-4968-8AB5-92AC91651035}" destId="{CD489EFA-2FBF-458E-8292-79B20515D108}" srcOrd="1" destOrd="0" parTransId="{D7F44649-F8D0-4407-9797-84565D5FD3FB}" sibTransId="{74667A4A-1BB7-4B1D-8A92-616318060CBB}"/>
    <dgm:cxn modelId="{B26EFAF6-A63D-4BB8-BB1F-D37DC2F934E6}" type="presOf" srcId="{42ECD765-64EE-47ED-8C1E-58C8D5A7E652}" destId="{FCDF5987-A525-48D4-BDF0-1E342F99797E}" srcOrd="0" destOrd="2" presId="urn:microsoft.com/office/officeart/2005/8/layout/pList2"/>
    <dgm:cxn modelId="{19E539FD-48E9-48A7-A6D4-12936A0378F7}" srcId="{0BAE88F5-1170-4E08-B0D2-EBE87E45A54C}" destId="{430F23B1-93FC-4FDE-9F33-9E309CEC388F}" srcOrd="1" destOrd="0" parTransId="{DD32B23E-4EFC-4AD5-9831-C4F078219C66}" sibTransId="{B9C20822-EBA7-4831-B003-1D964D141FE2}"/>
    <dgm:cxn modelId="{3421F90C-C4AF-454E-B236-E2A7835986BC}" type="presParOf" srcId="{BD3BB5D8-2B41-437E-B306-EDFAB68AF0DB}" destId="{B9945BF8-567F-49C2-840F-453B23F2B886}" srcOrd="0" destOrd="0" presId="urn:microsoft.com/office/officeart/2005/8/layout/pList2"/>
    <dgm:cxn modelId="{AF9D909B-70E3-41F2-9E78-409AC32DC075}" type="presParOf" srcId="{BD3BB5D8-2B41-437E-B306-EDFAB68AF0DB}" destId="{4E9CF0B7-96AF-4278-98C5-1BEFF3D3BB0F}" srcOrd="1" destOrd="0" presId="urn:microsoft.com/office/officeart/2005/8/layout/pList2"/>
    <dgm:cxn modelId="{B5B034CC-DFC7-4EEF-81FD-C66A2B135681}" type="presParOf" srcId="{4E9CF0B7-96AF-4278-98C5-1BEFF3D3BB0F}" destId="{FD453B15-FF57-4963-A5D2-83C0B1754907}" srcOrd="0" destOrd="0" presId="urn:microsoft.com/office/officeart/2005/8/layout/pList2"/>
    <dgm:cxn modelId="{4F1669FF-1107-4881-B7BB-594EEC38DF30}" type="presParOf" srcId="{FD453B15-FF57-4963-A5D2-83C0B1754907}" destId="{36BDF9EB-FEB6-45EC-88AC-D81CFF128914}" srcOrd="0" destOrd="0" presId="urn:microsoft.com/office/officeart/2005/8/layout/pList2"/>
    <dgm:cxn modelId="{2187BEA3-07B0-4FA3-BCB9-DEE869AE4704}" type="presParOf" srcId="{FD453B15-FF57-4963-A5D2-83C0B1754907}" destId="{E7F12D2A-FC72-4FA1-B6B5-52270E12F7E8}" srcOrd="1" destOrd="0" presId="urn:microsoft.com/office/officeart/2005/8/layout/pList2"/>
    <dgm:cxn modelId="{B8730BE2-71EF-4DAE-9A9E-63D58852A1D8}" type="presParOf" srcId="{FD453B15-FF57-4963-A5D2-83C0B1754907}" destId="{96505602-A768-4055-9E99-C07A649B0EE6}" srcOrd="2" destOrd="0" presId="urn:microsoft.com/office/officeart/2005/8/layout/pList2"/>
    <dgm:cxn modelId="{EEA6FEEC-453A-4E14-9010-1D83C5A3E470}" type="presParOf" srcId="{4E9CF0B7-96AF-4278-98C5-1BEFF3D3BB0F}" destId="{961AC48A-941D-4776-87CD-EA40F15AF1F7}" srcOrd="1" destOrd="0" presId="urn:microsoft.com/office/officeart/2005/8/layout/pList2"/>
    <dgm:cxn modelId="{2300550B-43AC-45FB-8FB8-9A5DEA6A4DF8}" type="presParOf" srcId="{4E9CF0B7-96AF-4278-98C5-1BEFF3D3BB0F}" destId="{B8A05B72-A832-48D9-871E-A471F18E0194}" srcOrd="2" destOrd="0" presId="urn:microsoft.com/office/officeart/2005/8/layout/pList2"/>
    <dgm:cxn modelId="{210CCC12-8416-4D49-9589-8A85750E9CF4}" type="presParOf" srcId="{B8A05B72-A832-48D9-871E-A471F18E0194}" destId="{1374AE07-302D-4D64-AB71-09597A9351C4}" srcOrd="0" destOrd="0" presId="urn:microsoft.com/office/officeart/2005/8/layout/pList2"/>
    <dgm:cxn modelId="{332EE08C-BDE0-4C1D-AF83-84863EB17BF9}" type="presParOf" srcId="{B8A05B72-A832-48D9-871E-A471F18E0194}" destId="{697238E6-B14B-45FF-A4EC-0369E3B4A4AB}" srcOrd="1" destOrd="0" presId="urn:microsoft.com/office/officeart/2005/8/layout/pList2"/>
    <dgm:cxn modelId="{3B5E7B96-9096-43EB-93D4-06C55E8C7E03}" type="presParOf" srcId="{B8A05B72-A832-48D9-871E-A471F18E0194}" destId="{ED0A8E40-9A09-419F-B615-51210E7550B3}" srcOrd="2" destOrd="0" presId="urn:microsoft.com/office/officeart/2005/8/layout/pList2"/>
    <dgm:cxn modelId="{997B6E10-CD36-4E25-900B-E070909C3E4F}" type="presParOf" srcId="{4E9CF0B7-96AF-4278-98C5-1BEFF3D3BB0F}" destId="{D93D4877-EED8-4E17-A377-0A173F239EFA}" srcOrd="3" destOrd="0" presId="urn:microsoft.com/office/officeart/2005/8/layout/pList2"/>
    <dgm:cxn modelId="{E6356811-F2E7-4F3D-9387-D380A2478F2B}" type="presParOf" srcId="{4E9CF0B7-96AF-4278-98C5-1BEFF3D3BB0F}" destId="{C34134A2-17C4-4DED-A840-98A2082DEB0C}" srcOrd="4" destOrd="0" presId="urn:microsoft.com/office/officeart/2005/8/layout/pList2"/>
    <dgm:cxn modelId="{A688F87B-CB3E-4348-960A-B9C08F9C757A}" type="presParOf" srcId="{C34134A2-17C4-4DED-A840-98A2082DEB0C}" destId="{FCDF5987-A525-48D4-BDF0-1E342F99797E}" srcOrd="0" destOrd="0" presId="urn:microsoft.com/office/officeart/2005/8/layout/pList2"/>
    <dgm:cxn modelId="{E9486C82-4A1E-4359-9B80-D4C4E5B486F0}" type="presParOf" srcId="{C34134A2-17C4-4DED-A840-98A2082DEB0C}" destId="{8A4B2AF7-0474-4614-8241-AF79FA5CBCFA}" srcOrd="1" destOrd="0" presId="urn:microsoft.com/office/officeart/2005/8/layout/pList2"/>
    <dgm:cxn modelId="{CED41420-B4BA-4398-AAEF-F793D5D4002D}" type="presParOf" srcId="{C34134A2-17C4-4DED-A840-98A2082DEB0C}" destId="{8C06CE98-B965-421B-A1BD-6A7E76B4F678}" srcOrd="2" destOrd="0" presId="urn:microsoft.com/office/officeart/2005/8/layout/pList2"/>
    <dgm:cxn modelId="{D2AB9BF3-674B-42A8-B024-E82E9BB58F8B}" type="presParOf" srcId="{4E9CF0B7-96AF-4278-98C5-1BEFF3D3BB0F}" destId="{3BE3DDE0-D632-4D7B-B0AF-052C36C482B7}" srcOrd="5" destOrd="0" presId="urn:microsoft.com/office/officeart/2005/8/layout/pList2"/>
    <dgm:cxn modelId="{078D7EA7-2C4A-4489-8757-E6E3E583A3F8}" type="presParOf" srcId="{4E9CF0B7-96AF-4278-98C5-1BEFF3D3BB0F}" destId="{5EBFA57C-2D34-452F-8DE2-C78394C0EC15}" srcOrd="6" destOrd="0" presId="urn:microsoft.com/office/officeart/2005/8/layout/pList2"/>
    <dgm:cxn modelId="{4E82199D-F66B-4874-8D08-674E7141C02B}" type="presParOf" srcId="{5EBFA57C-2D34-452F-8DE2-C78394C0EC15}" destId="{A147B53A-35ED-47BA-B6E9-B8D23590DC64}" srcOrd="0" destOrd="0" presId="urn:microsoft.com/office/officeart/2005/8/layout/pList2"/>
    <dgm:cxn modelId="{81C0065E-748A-4261-9393-D6824D0B56DA}" type="presParOf" srcId="{5EBFA57C-2D34-452F-8DE2-C78394C0EC15}" destId="{55B4DED7-F8D8-4881-88B9-5F4DDDA98CB9}" srcOrd="1" destOrd="0" presId="urn:microsoft.com/office/officeart/2005/8/layout/pList2"/>
    <dgm:cxn modelId="{DAC3729C-4787-4DE7-A702-21CB7BDA5599}" type="presParOf" srcId="{5EBFA57C-2D34-452F-8DE2-C78394C0EC15}" destId="{4AFD9DCB-13B8-498F-9377-85536CB6A943}" srcOrd="2" destOrd="0" presId="urn:microsoft.com/office/officeart/2005/8/layout/pList2"/>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45BF8-567F-49C2-840F-453B23F2B886}">
      <dsp:nvSpPr>
        <dsp:cNvPr id="0" name=""/>
        <dsp:cNvSpPr/>
      </dsp:nvSpPr>
      <dsp:spPr>
        <a:xfrm>
          <a:off x="0" y="0"/>
          <a:ext cx="9347371" cy="223038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505602-A768-4055-9E99-C07A649B0EE6}">
      <dsp:nvSpPr>
        <dsp:cNvPr id="0" name=""/>
        <dsp:cNvSpPr/>
      </dsp:nvSpPr>
      <dsp:spPr>
        <a:xfrm>
          <a:off x="280880" y="297384"/>
          <a:ext cx="2001423" cy="1635612"/>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tretch>
            <a:fillRect t="-8000" b="-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BDF9EB-FEB6-45EC-88AC-D81CFF128914}">
      <dsp:nvSpPr>
        <dsp:cNvPr id="0" name=""/>
        <dsp:cNvSpPr/>
      </dsp:nvSpPr>
      <dsp:spPr>
        <a:xfrm rot="10800000">
          <a:off x="280880" y="2230380"/>
          <a:ext cx="2001423" cy="2726021"/>
        </a:xfrm>
        <a:prstGeom prst="round2SameRect">
          <a:avLst>
            <a:gd name="adj1" fmla="val 10500"/>
            <a:gd name="adj2" fmla="val 0"/>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Biopharma Manufacturing</a:t>
          </a:r>
        </a:p>
        <a:p>
          <a:pPr marL="114300" lvl="1" indent="-114300" algn="l" defTabSz="533400">
            <a:lnSpc>
              <a:spcPct val="90000"/>
            </a:lnSpc>
            <a:spcBef>
              <a:spcPct val="0"/>
            </a:spcBef>
            <a:spcAft>
              <a:spcPct val="15000"/>
            </a:spcAft>
            <a:buChar char="•"/>
          </a:pPr>
          <a:r>
            <a:rPr lang="en-US" sz="1200" kern="1200" dirty="0"/>
            <a:t>Sterility Validation</a:t>
          </a:r>
          <a:endParaRPr lang="en-US" sz="1400" kern="1200" dirty="0"/>
        </a:p>
        <a:p>
          <a:pPr marL="114300" lvl="1" indent="-114300" algn="l" defTabSz="533400">
            <a:lnSpc>
              <a:spcPct val="90000"/>
            </a:lnSpc>
            <a:spcBef>
              <a:spcPct val="0"/>
            </a:spcBef>
            <a:spcAft>
              <a:spcPct val="15000"/>
            </a:spcAft>
            <a:buChar char="•"/>
          </a:pPr>
          <a:r>
            <a:rPr lang="en-US" sz="1200" kern="1200" dirty="0"/>
            <a:t>$1.8 trillion market</a:t>
          </a:r>
          <a:r>
            <a:rPr lang="en-US" sz="1200" kern="1200" baseline="30000" dirty="0"/>
            <a:t>7</a:t>
          </a:r>
          <a:endParaRPr lang="en-US" sz="12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dsp:txBody>
      <dsp:txXfrm rot="10800000">
        <a:off x="342431" y="2230380"/>
        <a:ext cx="1878321" cy="2664470"/>
      </dsp:txXfrm>
    </dsp:sp>
    <dsp:sp modelId="{ED0A8E40-9A09-419F-B615-51210E7550B3}">
      <dsp:nvSpPr>
        <dsp:cNvPr id="0" name=""/>
        <dsp:cNvSpPr/>
      </dsp:nvSpPr>
      <dsp:spPr>
        <a:xfrm>
          <a:off x="2482446" y="297384"/>
          <a:ext cx="2001423" cy="1635612"/>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8000" b="-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74AE07-302D-4D64-AB71-09597A9351C4}">
      <dsp:nvSpPr>
        <dsp:cNvPr id="0" name=""/>
        <dsp:cNvSpPr/>
      </dsp:nvSpPr>
      <dsp:spPr>
        <a:xfrm rot="10800000">
          <a:off x="2482446" y="2230380"/>
          <a:ext cx="2001423" cy="2726021"/>
        </a:xfrm>
        <a:prstGeom prst="round2SameRect">
          <a:avLst>
            <a:gd name="adj1" fmla="val 10500"/>
            <a:gd name="adj2" fmla="val 0"/>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BSL-3/4 Laboratories</a:t>
          </a:r>
        </a:p>
        <a:p>
          <a:pPr marL="114300" lvl="1" indent="-114300" algn="l" defTabSz="533400">
            <a:lnSpc>
              <a:spcPct val="90000"/>
            </a:lnSpc>
            <a:spcBef>
              <a:spcPct val="0"/>
            </a:spcBef>
            <a:spcAft>
              <a:spcPct val="15000"/>
            </a:spcAft>
            <a:buChar char="•"/>
          </a:pPr>
          <a:r>
            <a:rPr lang="en-US" sz="1200" kern="1200" dirty="0"/>
            <a:t>Containment Assurance</a:t>
          </a:r>
        </a:p>
        <a:p>
          <a:pPr marL="114300" lvl="1" indent="-114300" algn="l" defTabSz="533400">
            <a:lnSpc>
              <a:spcPct val="90000"/>
            </a:lnSpc>
            <a:spcBef>
              <a:spcPct val="0"/>
            </a:spcBef>
            <a:spcAft>
              <a:spcPct val="15000"/>
            </a:spcAft>
            <a:buChar char="•"/>
          </a:pPr>
          <a:r>
            <a:rPr lang="en-US" sz="1200" kern="1200" dirty="0"/>
            <a:t>Inhalation research</a:t>
          </a:r>
        </a:p>
        <a:p>
          <a:pPr marL="114300" lvl="1" indent="-114300" algn="l" defTabSz="533400">
            <a:lnSpc>
              <a:spcPct val="90000"/>
            </a:lnSpc>
            <a:spcBef>
              <a:spcPct val="0"/>
            </a:spcBef>
            <a:spcAft>
              <a:spcPct val="15000"/>
            </a:spcAft>
            <a:buChar char="•"/>
          </a:pPr>
          <a:r>
            <a:rPr lang="en-US" sz="1200" kern="1200" dirty="0"/>
            <a:t>$3.5 billion market</a:t>
          </a:r>
          <a:r>
            <a:rPr lang="en-US" sz="1200" kern="1200" baseline="30000" dirty="0"/>
            <a:t>6</a:t>
          </a:r>
          <a:endParaRPr lang="en-US" sz="1200" kern="1200" dirty="0"/>
        </a:p>
      </dsp:txBody>
      <dsp:txXfrm rot="10800000">
        <a:off x="2543997" y="2230380"/>
        <a:ext cx="1878321" cy="2664470"/>
      </dsp:txXfrm>
    </dsp:sp>
    <dsp:sp modelId="{8C06CE98-B965-421B-A1BD-6A7E76B4F678}">
      <dsp:nvSpPr>
        <dsp:cNvPr id="0" name=""/>
        <dsp:cNvSpPr/>
      </dsp:nvSpPr>
      <dsp:spPr>
        <a:xfrm>
          <a:off x="4684012" y="297384"/>
          <a:ext cx="2001423" cy="1635612"/>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8000" b="-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DF5987-A525-48D4-BDF0-1E342F99797E}">
      <dsp:nvSpPr>
        <dsp:cNvPr id="0" name=""/>
        <dsp:cNvSpPr/>
      </dsp:nvSpPr>
      <dsp:spPr>
        <a:xfrm rot="10800000">
          <a:off x="4684012" y="2230380"/>
          <a:ext cx="2001423" cy="2726021"/>
        </a:xfrm>
        <a:prstGeom prst="round2SameRect">
          <a:avLst>
            <a:gd name="adj1" fmla="val 10500"/>
            <a:gd name="adj2" fmla="val 0"/>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Semiconductor Manufacturing</a:t>
          </a:r>
        </a:p>
        <a:p>
          <a:pPr marL="114300" lvl="1" indent="-114300" algn="l" defTabSz="533400">
            <a:lnSpc>
              <a:spcPct val="90000"/>
            </a:lnSpc>
            <a:spcBef>
              <a:spcPct val="0"/>
            </a:spcBef>
            <a:spcAft>
              <a:spcPct val="15000"/>
            </a:spcAft>
            <a:buChar char="•"/>
          </a:pPr>
          <a:r>
            <a:rPr lang="en-US" sz="1200" kern="1200" dirty="0"/>
            <a:t>Yield Protection</a:t>
          </a:r>
        </a:p>
        <a:p>
          <a:pPr marL="114300" lvl="1" indent="-114300" algn="l" defTabSz="533400">
            <a:lnSpc>
              <a:spcPct val="90000"/>
            </a:lnSpc>
            <a:spcBef>
              <a:spcPct val="0"/>
            </a:spcBef>
            <a:spcAft>
              <a:spcPct val="15000"/>
            </a:spcAft>
            <a:buChar char="•"/>
          </a:pPr>
          <a:r>
            <a:rPr lang="en-US" sz="1200" kern="1200" dirty="0"/>
            <a:t>$755.3 billion market</a:t>
          </a:r>
          <a:r>
            <a:rPr lang="en-US" sz="1200" kern="1200" baseline="30000" dirty="0"/>
            <a:t>5</a:t>
          </a:r>
          <a:endParaRPr lang="en-US" sz="1200" kern="1200" dirty="0"/>
        </a:p>
      </dsp:txBody>
      <dsp:txXfrm rot="10800000">
        <a:off x="4745563" y="2230380"/>
        <a:ext cx="1878321" cy="2664470"/>
      </dsp:txXfrm>
    </dsp:sp>
    <dsp:sp modelId="{4AFD9DCB-13B8-498F-9377-85536CB6A943}">
      <dsp:nvSpPr>
        <dsp:cNvPr id="0" name=""/>
        <dsp:cNvSpPr/>
      </dsp:nvSpPr>
      <dsp:spPr>
        <a:xfrm>
          <a:off x="6975322" y="297384"/>
          <a:ext cx="2001423" cy="1635612"/>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tretch>
            <a:fillRect t="-8000" b="-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47B53A-35ED-47BA-B6E9-B8D23590DC64}">
      <dsp:nvSpPr>
        <dsp:cNvPr id="0" name=""/>
        <dsp:cNvSpPr/>
      </dsp:nvSpPr>
      <dsp:spPr>
        <a:xfrm rot="10800000">
          <a:off x="6885578" y="2230380"/>
          <a:ext cx="2180911" cy="2726021"/>
        </a:xfrm>
        <a:prstGeom prst="round2SameRect">
          <a:avLst>
            <a:gd name="adj1" fmla="val 10500"/>
            <a:gd name="adj2" fmla="val 0"/>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Data Centers</a:t>
          </a:r>
        </a:p>
        <a:p>
          <a:pPr marL="114300" lvl="1" indent="-114300" algn="l" defTabSz="533400">
            <a:lnSpc>
              <a:spcPct val="90000"/>
            </a:lnSpc>
            <a:spcBef>
              <a:spcPct val="0"/>
            </a:spcBef>
            <a:spcAft>
              <a:spcPct val="15000"/>
            </a:spcAft>
            <a:buChar char="•"/>
          </a:pPr>
          <a:r>
            <a:rPr lang="en-US" sz="1200" kern="1200" dirty="0"/>
            <a:t>Temp. regulation</a:t>
          </a:r>
        </a:p>
        <a:p>
          <a:pPr marL="114300" lvl="1" indent="-114300" algn="l" defTabSz="533400">
            <a:lnSpc>
              <a:spcPct val="90000"/>
            </a:lnSpc>
            <a:spcBef>
              <a:spcPct val="0"/>
            </a:spcBef>
            <a:spcAft>
              <a:spcPct val="15000"/>
            </a:spcAft>
            <a:buChar char="•"/>
          </a:pPr>
          <a:r>
            <a:rPr lang="en-US" sz="1200" kern="1200" dirty="0"/>
            <a:t>$269.8 billion market</a:t>
          </a:r>
          <a:r>
            <a:rPr lang="en-US" sz="1200" kern="1200" baseline="30000" dirty="0"/>
            <a:t>4</a:t>
          </a:r>
          <a:endParaRPr lang="en-US" sz="1200" kern="1200" dirty="0"/>
        </a:p>
      </dsp:txBody>
      <dsp:txXfrm rot="10800000">
        <a:off x="6952649" y="2230380"/>
        <a:ext cx="2046769" cy="2658950"/>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0A4A9E-3BB6-F15E-45BC-17027E91F8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760B91B-90E2-88C4-3A61-AAFECA8157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612A2D-97FB-4B22-8EFB-5D5C90EE6194}" type="datetimeFigureOut">
              <a:rPr lang="en-GB" smtClean="0"/>
              <a:t>10/08/2026</a:t>
            </a:fld>
            <a:endParaRPr lang="en-GB"/>
          </a:p>
        </p:txBody>
      </p:sp>
      <p:sp>
        <p:nvSpPr>
          <p:cNvPr id="4" name="Footer Placeholder 3">
            <a:extLst>
              <a:ext uri="{FF2B5EF4-FFF2-40B4-BE49-F238E27FC236}">
                <a16:creationId xmlns:a16="http://schemas.microsoft.com/office/drawing/2014/main" id="{88C68D52-F533-9A1A-6786-3FBB810587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6CA754D-752C-13D5-7F1B-B7D6251264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561E85-8009-4EA3-9C4A-023D20F14F15}" type="slidenum">
              <a:rPr lang="en-GB" smtClean="0"/>
              <a:t>‹#›</a:t>
            </a:fld>
            <a:endParaRPr lang="en-GB"/>
          </a:p>
        </p:txBody>
      </p:sp>
    </p:spTree>
    <p:extLst>
      <p:ext uri="{BB962C8B-B14F-4D97-AF65-F5344CB8AC3E}">
        <p14:creationId xmlns:p14="http://schemas.microsoft.com/office/powerpoint/2010/main" val="240713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99FF87-7A5F-4B57-87F4-AA654E5A283D}" type="datetimeFigureOut">
              <a:rPr lang="en-GB" smtClean="0"/>
              <a:t>10/08/2026</a:t>
            </a:fld>
            <a:endParaRPr lang="en-GB"/>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54A23-0E76-4DF7-A0B4-B83A96CB66C5}" type="slidenum">
              <a:rPr lang="en-GB" smtClean="0"/>
              <a:t>‹#›</a:t>
            </a:fld>
            <a:endParaRPr lang="en-GB"/>
          </a:p>
        </p:txBody>
      </p:sp>
    </p:spTree>
    <p:extLst>
      <p:ext uri="{BB962C8B-B14F-4D97-AF65-F5344CB8AC3E}">
        <p14:creationId xmlns:p14="http://schemas.microsoft.com/office/powerpoint/2010/main" val="1538586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079999" y="4010399"/>
            <a:ext cx="30215841" cy="946611"/>
          </a:xfrm>
        </p:spPr>
        <p:txBody>
          <a:bodyPr>
            <a:noAutofit/>
          </a:bodyPr>
          <a:lstStyle>
            <a:lvl1pPr marL="0" indent="0" algn="l">
              <a:buNone/>
              <a:defRPr sz="4800">
                <a:solidFill>
                  <a:schemeClr val="bg1"/>
                </a:solidFill>
              </a:defRPr>
            </a:lvl1pPr>
            <a:lvl2pPr marL="2140130" indent="0" algn="ctr">
              <a:buNone/>
              <a:defRPr sz="9362"/>
            </a:lvl2pPr>
            <a:lvl3pPr marL="4280261" indent="0" algn="ctr">
              <a:buNone/>
              <a:defRPr sz="8426"/>
            </a:lvl3pPr>
            <a:lvl4pPr marL="6420391" indent="0" algn="ctr">
              <a:buNone/>
              <a:defRPr sz="7489"/>
            </a:lvl4pPr>
            <a:lvl5pPr marL="8560522" indent="0" algn="ctr">
              <a:buNone/>
              <a:defRPr sz="7489"/>
            </a:lvl5pPr>
            <a:lvl6pPr marL="10700652" indent="0" algn="ctr">
              <a:buNone/>
              <a:defRPr sz="7489"/>
            </a:lvl6pPr>
            <a:lvl7pPr marL="12840783" indent="0" algn="ctr">
              <a:buNone/>
              <a:defRPr sz="7489"/>
            </a:lvl7pPr>
            <a:lvl8pPr marL="14980913" indent="0" algn="ctr">
              <a:buNone/>
              <a:defRPr sz="7489"/>
            </a:lvl8pPr>
            <a:lvl9pPr marL="17121044" indent="0" algn="ctr">
              <a:buNone/>
              <a:defRPr sz="7489"/>
            </a:lvl9pPr>
          </a:lstStyle>
          <a:p>
            <a:r>
              <a:rPr lang="en-US"/>
              <a:t>Name, company name</a:t>
            </a:r>
          </a:p>
        </p:txBody>
      </p:sp>
      <p:sp>
        <p:nvSpPr>
          <p:cNvPr id="9" name="Title 8">
            <a:extLst>
              <a:ext uri="{FF2B5EF4-FFF2-40B4-BE49-F238E27FC236}">
                <a16:creationId xmlns:a16="http://schemas.microsoft.com/office/drawing/2014/main" id="{F34043A1-F62C-1393-3F38-15FCA1B1E177}"/>
              </a:ext>
            </a:extLst>
          </p:cNvPr>
          <p:cNvSpPr>
            <a:spLocks noGrp="1"/>
          </p:cNvSpPr>
          <p:nvPr>
            <p:ph type="title" hasCustomPrompt="1"/>
          </p:nvPr>
        </p:nvSpPr>
        <p:spPr>
          <a:xfrm>
            <a:off x="1080000" y="900000"/>
            <a:ext cx="30215842" cy="2718000"/>
          </a:xfrm>
        </p:spPr>
        <p:txBody>
          <a:bodyPr anchor="b">
            <a:normAutofit/>
          </a:bodyPr>
          <a:lstStyle>
            <a:lvl1pPr>
              <a:defRPr sz="13800"/>
            </a:lvl1pPr>
          </a:lstStyle>
          <a:p>
            <a:r>
              <a:rPr lang="en-US"/>
              <a:t>Poster title</a:t>
            </a:r>
            <a:endParaRPr lang="en-GB"/>
          </a:p>
        </p:txBody>
      </p:sp>
      <p:sp>
        <p:nvSpPr>
          <p:cNvPr id="31" name="Text Placeholder 30">
            <a:extLst>
              <a:ext uri="{FF2B5EF4-FFF2-40B4-BE49-F238E27FC236}">
                <a16:creationId xmlns:a16="http://schemas.microsoft.com/office/drawing/2014/main" id="{ED404691-5A3E-E714-CBD3-2353291AC0F1}"/>
              </a:ext>
            </a:extLst>
          </p:cNvPr>
          <p:cNvSpPr>
            <a:spLocks noGrp="1"/>
          </p:cNvSpPr>
          <p:nvPr>
            <p:ph type="body" sz="quarter" idx="13"/>
          </p:nvPr>
        </p:nvSpPr>
        <p:spPr>
          <a:xfrm>
            <a:off x="1080000" y="6364800"/>
            <a:ext cx="9360000" cy="222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0">
            <a:extLst>
              <a:ext uri="{FF2B5EF4-FFF2-40B4-BE49-F238E27FC236}">
                <a16:creationId xmlns:a16="http://schemas.microsoft.com/office/drawing/2014/main" id="{9BC76FF7-7F9C-AC44-4A10-64907E155768}"/>
              </a:ext>
            </a:extLst>
          </p:cNvPr>
          <p:cNvSpPr>
            <a:spLocks noGrp="1"/>
          </p:cNvSpPr>
          <p:nvPr>
            <p:ph type="body" sz="quarter" idx="14"/>
          </p:nvPr>
        </p:nvSpPr>
        <p:spPr>
          <a:xfrm>
            <a:off x="11507921" y="6364800"/>
            <a:ext cx="9360000" cy="222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Text Placeholder 30">
            <a:extLst>
              <a:ext uri="{FF2B5EF4-FFF2-40B4-BE49-F238E27FC236}">
                <a16:creationId xmlns:a16="http://schemas.microsoft.com/office/drawing/2014/main" id="{EAEAD1C8-5042-4E5F-E998-39F5015169F7}"/>
              </a:ext>
            </a:extLst>
          </p:cNvPr>
          <p:cNvSpPr>
            <a:spLocks noGrp="1"/>
          </p:cNvSpPr>
          <p:nvPr>
            <p:ph type="body" sz="quarter" idx="15"/>
          </p:nvPr>
        </p:nvSpPr>
        <p:spPr>
          <a:xfrm>
            <a:off x="32363763" y="6364800"/>
            <a:ext cx="9360000" cy="222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 Placeholder 30">
            <a:extLst>
              <a:ext uri="{FF2B5EF4-FFF2-40B4-BE49-F238E27FC236}">
                <a16:creationId xmlns:a16="http://schemas.microsoft.com/office/drawing/2014/main" id="{35FF28A4-678B-A810-96A4-B19F1340C9D0}"/>
              </a:ext>
            </a:extLst>
          </p:cNvPr>
          <p:cNvSpPr>
            <a:spLocks noGrp="1"/>
          </p:cNvSpPr>
          <p:nvPr>
            <p:ph type="body" sz="quarter" idx="16"/>
          </p:nvPr>
        </p:nvSpPr>
        <p:spPr>
          <a:xfrm>
            <a:off x="21935842" y="6364800"/>
            <a:ext cx="9360000" cy="222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2252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6728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DC77167-8841-DCE8-4E62-A7406A850CF8}"/>
              </a:ext>
            </a:extLst>
          </p:cNvPr>
          <p:cNvPicPr>
            <a:picLocks noChangeAspect="1"/>
          </p:cNvPicPr>
          <p:nvPr userDrawn="1"/>
        </p:nvPicPr>
        <p:blipFill>
          <a:blip r:embed="rId4">
            <a:extLst>
              <a:ext uri="{28A0092B-C50C-407E-A947-70E740481C1C}">
                <a14:useLocalDpi xmlns:a14="http://schemas.microsoft.com/office/drawing/2010/main"/>
              </a:ext>
            </a:extLst>
          </a:blip>
          <a:srcRect/>
          <a:stretch/>
        </p:blipFill>
        <p:spPr>
          <a:xfrm>
            <a:off x="17517" y="0"/>
            <a:ext cx="42768728" cy="30275213"/>
          </a:xfrm>
          <a:prstGeom prst="rect">
            <a:avLst/>
          </a:prstGeom>
        </p:spPr>
      </p:pic>
      <p:sp>
        <p:nvSpPr>
          <p:cNvPr id="2" name="Title Placeholder 1"/>
          <p:cNvSpPr>
            <a:spLocks noGrp="1"/>
          </p:cNvSpPr>
          <p:nvPr>
            <p:ph type="title"/>
          </p:nvPr>
        </p:nvSpPr>
        <p:spPr>
          <a:xfrm>
            <a:off x="1080000" y="900000"/>
            <a:ext cx="28980000" cy="3960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80000" y="6363245"/>
            <a:ext cx="40626246" cy="2229196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942759" y="28060644"/>
            <a:ext cx="9630847" cy="1611875"/>
          </a:xfrm>
          <a:prstGeom prst="rect">
            <a:avLst/>
          </a:prstGeom>
        </p:spPr>
        <p:txBody>
          <a:bodyPr vert="horz" lIns="91440" tIns="45720" rIns="91440" bIns="45720" rtlCol="0" anchor="ctr"/>
          <a:lstStyle>
            <a:lvl1pPr algn="l">
              <a:defRPr sz="5298">
                <a:solidFill>
                  <a:schemeClr val="tx1">
                    <a:tint val="82000"/>
                  </a:schemeClr>
                </a:solidFill>
              </a:defRPr>
            </a:lvl1pPr>
          </a:lstStyle>
          <a:p>
            <a:fld id="{C764DE79-268F-4C1A-8933-263129D2AF90}" type="datetimeFigureOut">
              <a:rPr lang="en-US" smtClean="0"/>
              <a:t>8/10/2026</a:t>
            </a:fld>
            <a:endParaRPr lang="en-US"/>
          </a:p>
        </p:txBody>
      </p:sp>
      <p:sp>
        <p:nvSpPr>
          <p:cNvPr id="5" name="Footer Placeholder 4"/>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5298">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230157" y="28060644"/>
            <a:ext cx="9630847" cy="1611875"/>
          </a:xfrm>
          <a:prstGeom prst="rect">
            <a:avLst/>
          </a:prstGeom>
        </p:spPr>
        <p:txBody>
          <a:bodyPr vert="horz" lIns="91440" tIns="45720" rIns="91440" bIns="45720" rtlCol="0" anchor="ctr"/>
          <a:lstStyle>
            <a:lvl1pPr algn="r">
              <a:defRPr sz="5298">
                <a:solidFill>
                  <a:schemeClr val="tx1">
                    <a:tint val="82000"/>
                  </a:schemeClr>
                </a:solidFill>
              </a:defRPr>
            </a:lvl1pPr>
          </a:lstStyle>
          <a:p>
            <a:fld id="{48F63A3B-78C7-47BE-AE5E-E10140E04643}" type="slidenum">
              <a:rPr lang="en-US" smtClean="0"/>
              <a:t>‹#›</a:t>
            </a:fld>
            <a:endParaRPr lang="en-US"/>
          </a:p>
        </p:txBody>
      </p:sp>
      <p:pic>
        <p:nvPicPr>
          <p:cNvPr id="8" name="Graphic 7">
            <a:extLst>
              <a:ext uri="{FF2B5EF4-FFF2-40B4-BE49-F238E27FC236}">
                <a16:creationId xmlns:a16="http://schemas.microsoft.com/office/drawing/2014/main" id="{9C3B5C4E-2C5C-0E14-785C-6BBE55267F4D}"/>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5333578" y="1080000"/>
            <a:ext cx="6512105" cy="3600000"/>
          </a:xfrm>
          <a:prstGeom prst="rect">
            <a:avLst/>
          </a:prstGeom>
        </p:spPr>
      </p:pic>
    </p:spTree>
    <p:extLst>
      <p:ext uri="{BB962C8B-B14F-4D97-AF65-F5344CB8AC3E}">
        <p14:creationId xmlns:p14="http://schemas.microsoft.com/office/powerpoint/2010/main" val="3507893636"/>
      </p:ext>
    </p:extLst>
  </p:cSld>
  <p:clrMap bg1="lt1" tx1="dk1" bg2="lt2" tx2="dk2" accent1="accent1" accent2="accent2" accent3="accent3" accent4="accent4" accent5="accent5" accent6="accent6" hlink="hlink" folHlink="folHlink"/>
  <p:sldLayoutIdLst>
    <p:sldLayoutId id="2147483700" r:id="rId1"/>
    <p:sldLayoutId id="2147483695" r:id="rId2"/>
  </p:sldLayoutIdLst>
  <p:txStyles>
    <p:titleStyle>
      <a:lvl1pPr algn="l" defTabSz="4036710" rtl="0" eaLnBrk="1" latinLnBrk="0" hangingPunct="1">
        <a:lnSpc>
          <a:spcPct val="90000"/>
        </a:lnSpc>
        <a:spcBef>
          <a:spcPct val="0"/>
        </a:spcBef>
        <a:buNone/>
        <a:defRPr sz="9600" kern="1200">
          <a:solidFill>
            <a:schemeClr val="bg1"/>
          </a:solidFill>
          <a:latin typeface="+mj-lt"/>
          <a:ea typeface="+mj-ea"/>
          <a:cs typeface="+mj-cs"/>
        </a:defRPr>
      </a:lvl1pPr>
    </p:titleStyle>
    <p:bodyStyle>
      <a:lvl1pPr marL="252000" indent="-252000" algn="l" defTabSz="4036710" rtl="0" eaLnBrk="1" latinLnBrk="0" hangingPunct="1">
        <a:lnSpc>
          <a:spcPct val="100000"/>
        </a:lnSpc>
        <a:spcBef>
          <a:spcPts val="8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576000" indent="-252000" algn="l" defTabSz="4036710" rtl="0" eaLnBrk="1" latinLnBrk="0" hangingPunct="1">
        <a:lnSpc>
          <a:spcPct val="100000"/>
        </a:lnSpc>
        <a:spcBef>
          <a:spcPts val="800"/>
        </a:spcBef>
        <a:buClr>
          <a:schemeClr val="accent1"/>
        </a:buClr>
        <a:buFont typeface="Arial" panose="020B0604020202020204" pitchFamily="34" charset="0"/>
        <a:buChar char="•"/>
        <a:defRPr sz="2800" kern="1200">
          <a:solidFill>
            <a:schemeClr val="tx1"/>
          </a:solidFill>
          <a:latin typeface="+mn-lt"/>
          <a:ea typeface="+mn-ea"/>
          <a:cs typeface="+mn-cs"/>
        </a:defRPr>
      </a:lvl2pPr>
      <a:lvl3pPr marL="900000" indent="-252000" algn="l" defTabSz="4036710" rtl="0" eaLnBrk="1" latinLnBrk="0" hangingPunct="1">
        <a:lnSpc>
          <a:spcPct val="100000"/>
        </a:lnSpc>
        <a:spcBef>
          <a:spcPts val="8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224000" indent="-252000" algn="l" defTabSz="4036710" rtl="0" eaLnBrk="1" latinLnBrk="0" hangingPunct="1">
        <a:lnSpc>
          <a:spcPct val="100000"/>
        </a:lnSpc>
        <a:spcBef>
          <a:spcPts val="800"/>
        </a:spcBef>
        <a:buClr>
          <a:schemeClr val="accent1"/>
        </a:buClr>
        <a:buFont typeface="Arial" panose="020B0604020202020204" pitchFamily="34" charset="0"/>
        <a:buChar char="•"/>
        <a:defRPr sz="2800" kern="1200">
          <a:solidFill>
            <a:schemeClr val="tx1"/>
          </a:solidFill>
          <a:latin typeface="+mn-lt"/>
          <a:ea typeface="+mn-ea"/>
          <a:cs typeface="+mn-cs"/>
        </a:defRPr>
      </a:lvl4pPr>
      <a:lvl5pPr marL="1548000" indent="-252000" algn="l" defTabSz="4036710" rtl="0" eaLnBrk="1" latinLnBrk="0" hangingPunct="1">
        <a:lnSpc>
          <a:spcPct val="100000"/>
        </a:lnSpc>
        <a:spcBef>
          <a:spcPts val="800"/>
        </a:spcBef>
        <a:buClr>
          <a:schemeClr val="accent1"/>
        </a:buClr>
        <a:buFont typeface="Arial" panose="020B0604020202020204" pitchFamily="34" charset="0"/>
        <a:buChar char="•"/>
        <a:defRPr sz="2800" kern="1200">
          <a:solidFill>
            <a:schemeClr val="tx1"/>
          </a:solidFill>
          <a:latin typeface="+mn-lt"/>
          <a:ea typeface="+mn-ea"/>
          <a:cs typeface="+mn-cs"/>
        </a:defRPr>
      </a:lvl5pPr>
      <a:lvl6pPr marL="1110095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6pPr>
      <a:lvl7pPr marL="1311930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7pPr>
      <a:lvl8pPr marL="1513766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8pPr>
      <a:lvl9pPr marL="17156019"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13" Type="http://schemas.openxmlformats.org/officeDocument/2006/relationships/image" Target="../media/image9.png"/><Relationship Id="rId18" Type="http://schemas.openxmlformats.org/officeDocument/2006/relationships/image" Target="../media/image14.png"/><Relationship Id="rId26" Type="http://schemas.openxmlformats.org/officeDocument/2006/relationships/image" Target="../media/image22.png"/><Relationship Id="rId39" Type="http://schemas.openxmlformats.org/officeDocument/2006/relationships/image" Target="../media/image35.png"/><Relationship Id="rId3" Type="http://schemas.openxmlformats.org/officeDocument/2006/relationships/image" Target="../media/image4.png"/><Relationship Id="rId21" Type="http://schemas.openxmlformats.org/officeDocument/2006/relationships/image" Target="../media/image17.png"/><Relationship Id="rId34" Type="http://schemas.openxmlformats.org/officeDocument/2006/relationships/image" Target="../media/image30.svg"/><Relationship Id="rId42" Type="http://schemas.openxmlformats.org/officeDocument/2006/relationships/image" Target="../media/image38.emf"/><Relationship Id="rId7" Type="http://schemas.openxmlformats.org/officeDocument/2006/relationships/hyperlink" Target="http://www.verifiedmarketreports.com/product/biosafety-level-3-bsl-3-laboratories-market/" TargetMode="External"/><Relationship Id="rId12" Type="http://schemas.microsoft.com/office/2007/relationships/diagramDrawing" Target="../diagrams/drawing1.xml"/><Relationship Id="rId17" Type="http://schemas.openxmlformats.org/officeDocument/2006/relationships/image" Target="../media/image13.png"/><Relationship Id="rId25" Type="http://schemas.openxmlformats.org/officeDocument/2006/relationships/image" Target="../media/image21.png"/><Relationship Id="rId33" Type="http://schemas.openxmlformats.org/officeDocument/2006/relationships/image" Target="../media/image29.svg"/><Relationship Id="rId38" Type="http://schemas.openxmlformats.org/officeDocument/2006/relationships/image" Target="../media/image34.png"/><Relationship Id="rId2" Type="http://schemas.openxmlformats.org/officeDocument/2006/relationships/image" Target="../media/image3.png"/><Relationship Id="rId16" Type="http://schemas.openxmlformats.org/officeDocument/2006/relationships/image" Target="../media/image12.png"/><Relationship Id="rId20" Type="http://schemas.openxmlformats.org/officeDocument/2006/relationships/image" Target="../media/image16.png"/><Relationship Id="rId29" Type="http://schemas.openxmlformats.org/officeDocument/2006/relationships/image" Target="../media/image25.png"/><Relationship Id="rId41"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hyperlink" Target="http://www.fortunebusinessinsights.com/semiconductor-market-102365" TargetMode="External"/><Relationship Id="rId11" Type="http://schemas.openxmlformats.org/officeDocument/2006/relationships/diagramColors" Target="../diagrams/colors1.xml"/><Relationship Id="rId24" Type="http://schemas.openxmlformats.org/officeDocument/2006/relationships/image" Target="../media/image20.png"/><Relationship Id="rId32" Type="http://schemas.openxmlformats.org/officeDocument/2006/relationships/image" Target="../media/image28.svg"/><Relationship Id="rId37" Type="http://schemas.openxmlformats.org/officeDocument/2006/relationships/image" Target="../media/image33.png"/><Relationship Id="rId40" Type="http://schemas.openxmlformats.org/officeDocument/2006/relationships/image" Target="../media/image36.png"/><Relationship Id="rId5" Type="http://schemas.openxmlformats.org/officeDocument/2006/relationships/hyperlink" Target="http://www.fortunebusinessinsights.com/data-center-market-109851" TargetMode="External"/><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36" Type="http://schemas.openxmlformats.org/officeDocument/2006/relationships/image" Target="../media/image32.png"/><Relationship Id="rId10" Type="http://schemas.openxmlformats.org/officeDocument/2006/relationships/diagramQuickStyle" Target="../diagrams/quickStyle1.xml"/><Relationship Id="rId19" Type="http://schemas.openxmlformats.org/officeDocument/2006/relationships/image" Target="../media/image15.png"/><Relationship Id="rId31" Type="http://schemas.openxmlformats.org/officeDocument/2006/relationships/image" Target="../media/image27.svg"/><Relationship Id="rId4" Type="http://schemas.openxmlformats.org/officeDocument/2006/relationships/hyperlink" Target="https://doi.org/10.1088/1361-6501/ad7165.%20Accessed%206%20Aug.%202025" TargetMode="External"/><Relationship Id="rId9" Type="http://schemas.openxmlformats.org/officeDocument/2006/relationships/diagramLayout" Target="../diagrams/layout1.xml"/><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3.png"/><Relationship Id="rId30" Type="http://schemas.openxmlformats.org/officeDocument/2006/relationships/image" Target="../media/image26.png"/><Relationship Id="rId35" Type="http://schemas.openxmlformats.org/officeDocument/2006/relationships/image" Target="../media/image31.png"/><Relationship Id="rId4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C257E9-92DD-0F4B-F458-E3A92BFB985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1964650" y="13067718"/>
            <a:ext cx="8801100" cy="5092068"/>
          </a:xfrm>
          <a:prstGeom prst="rect">
            <a:avLst/>
          </a:prstGeom>
        </p:spPr>
      </p:pic>
      <p:pic>
        <p:nvPicPr>
          <p:cNvPr id="8" name="Picture 7">
            <a:extLst>
              <a:ext uri="{FF2B5EF4-FFF2-40B4-BE49-F238E27FC236}">
                <a16:creationId xmlns:a16="http://schemas.microsoft.com/office/drawing/2014/main" id="{8D7AB4F0-1F8A-95F5-F49A-389EA040235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1964650" y="7722920"/>
            <a:ext cx="8801100" cy="5105868"/>
          </a:xfrm>
          <a:prstGeom prst="rect">
            <a:avLst/>
          </a:prstGeom>
        </p:spPr>
      </p:pic>
      <p:sp>
        <p:nvSpPr>
          <p:cNvPr id="3" name="Subtitle 2">
            <a:extLst>
              <a:ext uri="{FF2B5EF4-FFF2-40B4-BE49-F238E27FC236}">
                <a16:creationId xmlns:a16="http://schemas.microsoft.com/office/drawing/2014/main" id="{D39F20B8-B1A3-6607-FE20-05599DD0978B}"/>
              </a:ext>
            </a:extLst>
          </p:cNvPr>
          <p:cNvSpPr>
            <a:spLocks noGrp="1"/>
          </p:cNvSpPr>
          <p:nvPr>
            <p:ph type="subTitle" idx="1"/>
          </p:nvPr>
        </p:nvSpPr>
        <p:spPr/>
        <p:txBody>
          <a:bodyPr/>
          <a:lstStyle/>
          <a:p>
            <a:r>
              <a:rPr lang="en-GB" dirty="0"/>
              <a:t>John Greenhalge, Rebekah Cross PhD, Battelle Memorial Institute</a:t>
            </a:r>
          </a:p>
        </p:txBody>
      </p:sp>
      <p:sp>
        <p:nvSpPr>
          <p:cNvPr id="2" name="Title 1">
            <a:extLst>
              <a:ext uri="{FF2B5EF4-FFF2-40B4-BE49-F238E27FC236}">
                <a16:creationId xmlns:a16="http://schemas.microsoft.com/office/drawing/2014/main" id="{EDD2FDEF-0BD3-0078-448A-D5395C31C0BF}"/>
              </a:ext>
            </a:extLst>
          </p:cNvPr>
          <p:cNvSpPr>
            <a:spLocks noGrp="1"/>
          </p:cNvSpPr>
          <p:nvPr>
            <p:ph type="title"/>
          </p:nvPr>
        </p:nvSpPr>
        <p:spPr>
          <a:xfrm>
            <a:off x="1079999" y="900000"/>
            <a:ext cx="33547931" cy="2718000"/>
          </a:xfrm>
        </p:spPr>
        <p:txBody>
          <a:bodyPr anchor="ctr">
            <a:normAutofit fontScale="90000"/>
          </a:bodyPr>
          <a:lstStyle/>
          <a:p>
            <a:r>
              <a:rPr lang="en-GB" dirty="0"/>
              <a:t>Real-Time Versatile Structured Light Imaging (rtVSLI)</a:t>
            </a:r>
          </a:p>
        </p:txBody>
      </p:sp>
      <p:sp>
        <p:nvSpPr>
          <p:cNvPr id="9" name="Text Placeholder 8">
            <a:extLst>
              <a:ext uri="{FF2B5EF4-FFF2-40B4-BE49-F238E27FC236}">
                <a16:creationId xmlns:a16="http://schemas.microsoft.com/office/drawing/2014/main" id="{E3D7FB46-0849-97B3-BA08-0B15625AD4C4}"/>
              </a:ext>
            </a:extLst>
          </p:cNvPr>
          <p:cNvSpPr>
            <a:spLocks noGrp="1"/>
          </p:cNvSpPr>
          <p:nvPr>
            <p:ph type="body" sz="quarter" idx="13"/>
          </p:nvPr>
        </p:nvSpPr>
        <p:spPr>
          <a:xfrm>
            <a:off x="1079999" y="7240424"/>
            <a:ext cx="9926807" cy="6535964"/>
          </a:xfrm>
        </p:spPr>
        <p:txBody>
          <a:bodyPr/>
          <a:lstStyle/>
          <a:p>
            <a:pPr marL="0" indent="0" algn="just">
              <a:buNone/>
            </a:pPr>
            <a:r>
              <a:rPr lang="en-GB" b="1" dirty="0">
                <a:solidFill>
                  <a:schemeClr val="accent1">
                    <a:lumMod val="50000"/>
                  </a:schemeClr>
                </a:solidFill>
              </a:rPr>
              <a:t>Advancing product technology is outpacing environmental monitoring technology</a:t>
            </a:r>
          </a:p>
          <a:p>
            <a:pPr marL="342900" indent="-342900" algn="just"/>
            <a:r>
              <a:rPr lang="en-US" sz="2600" dirty="0"/>
              <a:t>Contamination events cost companies hundreds of millions of dollars and represent significant safety concerns in high containment environments.</a:t>
            </a:r>
          </a:p>
          <a:p>
            <a:pPr marL="342900" indent="-342900" algn="just"/>
            <a:r>
              <a:rPr lang="en-US" sz="2600" dirty="0"/>
              <a:t>Current monitoring procedures generally provide low resolution data, are reactive instead of proactive, and can amount to hot-spot measurements.</a:t>
            </a:r>
          </a:p>
          <a:p>
            <a:pPr marL="342900" indent="-342900" algn="just"/>
            <a:r>
              <a:rPr lang="en-US" sz="2600" dirty="0"/>
              <a:t>Identifying contamination sources often requires costly investigations, downtime, and repeat testing that adds no direct value to production.</a:t>
            </a:r>
          </a:p>
          <a:p>
            <a:pPr marL="342900" indent="-342900" algn="just"/>
            <a:r>
              <a:rPr lang="en-US" sz="2600" dirty="0"/>
              <a:t>Advancing product technology necessitates advanced environmental monitoring technology yet current monitoring methods are significantly behind.</a:t>
            </a:r>
          </a:p>
          <a:p>
            <a:pPr marL="0" indent="0">
              <a:buNone/>
            </a:pPr>
            <a:endParaRPr lang="en-US" dirty="0"/>
          </a:p>
        </p:txBody>
      </p:sp>
      <p:sp>
        <p:nvSpPr>
          <p:cNvPr id="5" name="Text Placeholder 4">
            <a:extLst>
              <a:ext uri="{FF2B5EF4-FFF2-40B4-BE49-F238E27FC236}">
                <a16:creationId xmlns:a16="http://schemas.microsoft.com/office/drawing/2014/main" id="{C50FB82B-0B0C-44D3-A7D7-60DC22DD0EA9}"/>
              </a:ext>
            </a:extLst>
          </p:cNvPr>
          <p:cNvSpPr>
            <a:spLocks noGrp="1"/>
          </p:cNvSpPr>
          <p:nvPr>
            <p:ph type="body" sz="quarter" idx="15"/>
          </p:nvPr>
        </p:nvSpPr>
        <p:spPr>
          <a:xfrm>
            <a:off x="32027298" y="22557498"/>
            <a:ext cx="9360000" cy="6156946"/>
          </a:xfrm>
        </p:spPr>
        <p:txBody>
          <a:bodyPr>
            <a:normAutofit fontScale="47500" lnSpcReduction="20000"/>
          </a:bodyPr>
          <a:lstStyle/>
          <a:p>
            <a:pPr marL="228600" indent="-228600">
              <a:buFont typeface="+mj-lt"/>
              <a:buAutoNum type="arabicPeriod"/>
            </a:pPr>
            <a:r>
              <a:rPr lang="en-US" dirty="0"/>
              <a:t>Raffel, Markus, et al. “Projected Moving Patterns for Reference-Free Background-Oriented Schlieren Technique (BOS).” Measurement Science and Technology, vol. 35, no. 11, 29 Aug. 2024, p. 115306, </a:t>
            </a:r>
            <a:r>
              <a:rPr lang="en-US" dirty="0">
                <a:hlinkClick r:id="rId4"/>
              </a:rPr>
              <a:t>https://doi.org/10.1088/1361-6501/ad7165. Accessed 6 Aug. 2025</a:t>
            </a:r>
            <a:r>
              <a:rPr lang="en-US" dirty="0"/>
              <a:t>.</a:t>
            </a:r>
          </a:p>
          <a:p>
            <a:pPr marL="228600" indent="-228600">
              <a:buFont typeface="+mj-lt"/>
              <a:buAutoNum type="arabicPeriod"/>
            </a:pPr>
            <a:r>
              <a:rPr lang="en-US" dirty="0"/>
              <a:t>Park, Seung, et al. “Kernel-Density-Based Particle Defect Management for Semiconductor Manufacturing Facilities.” </a:t>
            </a:r>
            <a:r>
              <a:rPr lang="en-US" i="1" dirty="0"/>
              <a:t>Applied Sciences</a:t>
            </a:r>
            <a:r>
              <a:rPr lang="en-US" dirty="0"/>
              <a:t>, vol. 8, no. 2, 1 Feb. 2018, p. 224, https://www.mdpi.com/2076-3417/8/2/224, 10.3390/app8020224. Accessed 9 Aug. 2026.</a:t>
            </a:r>
          </a:p>
          <a:p>
            <a:pPr marL="228600" indent="-228600">
              <a:buFont typeface="+mj-lt"/>
              <a:buAutoNum type="arabicPeriod"/>
            </a:pPr>
            <a:r>
              <a:rPr lang="en-US" dirty="0"/>
              <a:t>Bron, Joachim A, et al. “Density Field Reconstruction of an Overexpanded Supersonic Jet Using Tomographic Background-Oriented Schlieren.” ArXiv.org, </a:t>
            </a:r>
            <a:r>
              <a:rPr lang="en-US" dirty="0" err="1"/>
              <a:t>arXiv</a:t>
            </a:r>
            <a:r>
              <a:rPr lang="en-US" dirty="0"/>
              <a:t>, 17 Nov. 2023, arxiv.org/abs/2311.10332. Accessed 6 Oct. 2025.</a:t>
            </a:r>
          </a:p>
          <a:p>
            <a:pPr marL="228600" indent="-228600">
              <a:buFont typeface="+mj-lt"/>
              <a:buAutoNum type="arabicPeriod"/>
            </a:pPr>
            <a:r>
              <a:rPr lang="en-US" dirty="0"/>
              <a:t>“Data Center Market Size, Share &amp; Trends | Growth Report [2032].” www.fortunebusinessinsights.com, Fortune Business Insights, 22 Sept. 2025, </a:t>
            </a:r>
            <a:r>
              <a:rPr lang="en-US" dirty="0">
                <a:hlinkClick r:id="rId5"/>
              </a:rPr>
              <a:t>www.fortunebusinessinsights.com/data-center-market-109851</a:t>
            </a:r>
            <a:r>
              <a:rPr lang="en-US" dirty="0"/>
              <a:t>. Accessed 7 Oct. 2025.</a:t>
            </a:r>
          </a:p>
          <a:p>
            <a:pPr marL="228600" indent="-228600">
              <a:buFont typeface="+mj-lt"/>
              <a:buAutoNum type="arabicPeriod"/>
            </a:pPr>
            <a:r>
              <a:rPr lang="en-US" dirty="0"/>
              <a:t>“Semiconductor Market Size &amp; Share | Industry Growth [2020-2027].” www.fortunebusinessinsights.com, Fortune Business Insights, 22 Sept. 2025, </a:t>
            </a:r>
            <a:r>
              <a:rPr lang="en-US" dirty="0">
                <a:hlinkClick r:id="rId6"/>
              </a:rPr>
              <a:t>www.fortunebusinessinsights.com/semiconductor-market-102365</a:t>
            </a:r>
            <a:r>
              <a:rPr lang="en-US" dirty="0"/>
              <a:t>. Accessed 7 Oct. 2025.</a:t>
            </a:r>
          </a:p>
          <a:p>
            <a:pPr marL="228600" indent="-228600">
              <a:buFont typeface="+mj-lt"/>
              <a:buAutoNum type="arabicPeriod"/>
            </a:pPr>
            <a:r>
              <a:rPr lang="en-US" dirty="0"/>
              <a:t>“Biosafety Level 3 (BSL-3) Laboratories Market 2025 | Trends, Growth &amp; Insights in the United States.” www.verifiedmarketreports.com, Verified Market Reports, 15 Feb. 2025, </a:t>
            </a:r>
            <a:r>
              <a:rPr lang="en-US" dirty="0">
                <a:hlinkClick r:id="rId7"/>
              </a:rPr>
              <a:t>www.verifiedmarketreports.com/product/biosafety-level-3-bsl-3-laboratories-market/</a:t>
            </a:r>
            <a:r>
              <a:rPr lang="en-US" dirty="0"/>
              <a:t>. Accessed 7 Oct. 2025.</a:t>
            </a:r>
          </a:p>
          <a:p>
            <a:pPr marL="228600" indent="-228600">
              <a:buFont typeface="+mj-lt"/>
              <a:buAutoNum type="arabicPeriod"/>
            </a:pPr>
            <a:r>
              <a:rPr lang="en-US" dirty="0"/>
              <a:t>“Impact of Covid-19 on the Pharmaceuticals Market Size &amp; Share, 2020.” www.fortunebusinessinsights.com, Fortune Business Insights, 22 Sept. 2025, www.fortunebusinessinsights.com/impact-of-covid-19-on-pharmaceuticals-market-102685. Accessed 7 Oct. 2025.</a:t>
            </a:r>
          </a:p>
          <a:p>
            <a:pPr marL="228600" indent="-228600">
              <a:buFont typeface="+mj-lt"/>
              <a:buAutoNum type="arabicPeriod"/>
            </a:pPr>
            <a:r>
              <a:rPr lang="en-US" dirty="0"/>
              <a:t>“Automated Optical Inspection Machine Price Guide (2025).” Www.averroes.ai, Averroes, 7 Feb. 2025, averroes.ai/blog/automated-optical-inspection-price. Accessed 7 Oct. 2025.</a:t>
            </a:r>
          </a:p>
          <a:p>
            <a:pPr marL="228600" indent="-228600">
              <a:buFont typeface="+mj-lt"/>
              <a:buAutoNum type="arabicPeriod"/>
            </a:pPr>
            <a:r>
              <a:rPr lang="en-US" dirty="0"/>
              <a:t>“How Much Does a High Content Imaging System Cost?” Www.excedr.com, </a:t>
            </a:r>
            <a:r>
              <a:rPr lang="en-US" dirty="0" err="1"/>
              <a:t>Excedr</a:t>
            </a:r>
            <a:r>
              <a:rPr lang="en-US" dirty="0"/>
              <a:t>, 29 Aug. 2024, www.excedr.com/blog/how-much-does-a-high-content-imaging-system-cost? Accessed 7 Oct. 2025.</a:t>
            </a:r>
          </a:p>
          <a:p>
            <a:pPr marL="228600" indent="-228600">
              <a:buFont typeface="+mj-lt"/>
              <a:buAutoNum type="arabicPeriod"/>
            </a:pPr>
            <a:r>
              <a:rPr lang="en-US" dirty="0"/>
              <a:t>“Global Quality in Manufacturing Survey Reveals Dramatic Rise in Product Recalls - ETQ.” www.etq.com, ETQ | Hexagon, 31 July 2024, www.etq.com/press-releases/global-quality-in-manufacturing-survey-reveals-dramatic-rise-in-product-recalls/. Accessed 7 Oct. 2025.</a:t>
            </a:r>
          </a:p>
          <a:p>
            <a:pPr marL="228600" indent="-228600">
              <a:buFont typeface="+mj-lt"/>
              <a:buAutoNum type="arabicPeriod"/>
            </a:pPr>
            <a:r>
              <a:rPr lang="en-US" dirty="0"/>
              <a:t>“The Rising Cost of Product Recalls: Why Prevention Matters - Honeywell.” www.spartasystems.com, Honeywell, 20 Sept. 2025, www.spartasystems.com/resources/the-rising-cost-of-product-recalls-why-prevention-matters/. Accessed 7 Oct. 2025.</a:t>
            </a:r>
          </a:p>
          <a:p>
            <a:pPr marL="228600" indent="-228600">
              <a:buFont typeface="Wingdings" panose="05000000000000000000" pitchFamily="2" charset="2"/>
              <a:buChar char="v"/>
            </a:pPr>
            <a:r>
              <a:rPr lang="en-US" dirty="0"/>
              <a:t>I’d like to acknowledge and thank Gabe Meister, Steven Risser, David Glasbrenner, Jen Malik, Rachel Spurbeck, Kent </a:t>
            </a:r>
            <a:r>
              <a:rPr lang="en-US" dirty="0" err="1"/>
              <a:t>Brasseale</a:t>
            </a:r>
            <a:r>
              <a:rPr lang="en-US" dirty="0"/>
              <a:t>, </a:t>
            </a:r>
            <a:r>
              <a:rPr lang="en-US" dirty="0" err="1"/>
              <a:t>Suhithi</a:t>
            </a:r>
            <a:r>
              <a:rPr lang="en-US" dirty="0"/>
              <a:t> Peiris, Forrest </a:t>
            </a:r>
            <a:r>
              <a:rPr lang="en-US" dirty="0" err="1"/>
              <a:t>Svingala</a:t>
            </a:r>
            <a:r>
              <a:rPr lang="en-US" dirty="0"/>
              <a:t>, Jeff Thoroman, Young Choi, Johnathan Velazquez Cruz, Morgan Wendling, Ryan Rodriguez, Mass Challenge, and ESEC for their support</a:t>
            </a:r>
          </a:p>
          <a:p>
            <a:endParaRPr lang="en-GB" dirty="0"/>
          </a:p>
        </p:txBody>
      </p:sp>
      <p:grpSp>
        <p:nvGrpSpPr>
          <p:cNvPr id="25" name="Group 24">
            <a:extLst>
              <a:ext uri="{FF2B5EF4-FFF2-40B4-BE49-F238E27FC236}">
                <a16:creationId xmlns:a16="http://schemas.microsoft.com/office/drawing/2014/main" id="{596E428B-4D29-63CD-6451-37858335B7A8}"/>
              </a:ext>
            </a:extLst>
          </p:cNvPr>
          <p:cNvGrpSpPr/>
          <p:nvPr/>
        </p:nvGrpSpPr>
        <p:grpSpPr>
          <a:xfrm>
            <a:off x="32063793" y="11746255"/>
            <a:ext cx="9347371" cy="5286797"/>
            <a:chOff x="22895650" y="5103406"/>
            <a:chExt cx="9347371" cy="5286797"/>
          </a:xfrm>
        </p:grpSpPr>
        <p:grpSp>
          <p:nvGrpSpPr>
            <p:cNvPr id="26" name="Group 25">
              <a:extLst>
                <a:ext uri="{FF2B5EF4-FFF2-40B4-BE49-F238E27FC236}">
                  <a16:creationId xmlns:a16="http://schemas.microsoft.com/office/drawing/2014/main" id="{EA06E436-7CAF-0671-D31E-92E93C58E410}"/>
                </a:ext>
              </a:extLst>
            </p:cNvPr>
            <p:cNvGrpSpPr/>
            <p:nvPr/>
          </p:nvGrpSpPr>
          <p:grpSpPr>
            <a:xfrm>
              <a:off x="22895650" y="5103406"/>
              <a:ext cx="9347371" cy="5286797"/>
              <a:chOff x="22416560" y="5257378"/>
              <a:chExt cx="10278084" cy="6096413"/>
            </a:xfrm>
          </p:grpSpPr>
          <p:graphicFrame>
            <p:nvGraphicFramePr>
              <p:cNvPr id="28" name="Diagram 27">
                <a:extLst>
                  <a:ext uri="{FF2B5EF4-FFF2-40B4-BE49-F238E27FC236}">
                    <a16:creationId xmlns:a16="http://schemas.microsoft.com/office/drawing/2014/main" id="{C367C356-BBED-BE41-D846-B7037B172A74}"/>
                  </a:ext>
                </a:extLst>
              </p:cNvPr>
              <p:cNvGraphicFramePr/>
              <p:nvPr>
                <p:extLst>
                  <p:ext uri="{D42A27DB-BD31-4B8C-83A1-F6EECF244321}">
                    <p14:modId xmlns:p14="http://schemas.microsoft.com/office/powerpoint/2010/main" val="1430659780"/>
                  </p:ext>
                </p:extLst>
              </p:nvPr>
            </p:nvGraphicFramePr>
            <p:xfrm>
              <a:off x="22416560" y="5257378"/>
              <a:ext cx="10278084" cy="571542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9" name="Picture 5">
                <a:extLst>
                  <a:ext uri="{FF2B5EF4-FFF2-40B4-BE49-F238E27FC236}">
                    <a16:creationId xmlns:a16="http://schemas.microsoft.com/office/drawing/2014/main" id="{D7F95B04-FCE8-1BEA-4266-17ACB4549B7C}"/>
                  </a:ext>
                </a:extLst>
              </p:cNvPr>
              <p:cNvPicPr>
                <a:picLocks noChangeAspect="1" noChangeArrowheads="1"/>
              </p:cNvPicPr>
              <p:nvPr/>
            </p:nvPicPr>
            <p:blipFill>
              <a:blip r:embed="rId13" cstate="hqprint">
                <a:extLst>
                  <a:ext uri="{28A0092B-C50C-407E-A947-70E740481C1C}">
                    <a14:useLocalDpi xmlns:a14="http://schemas.microsoft.com/office/drawing/2010/main"/>
                  </a:ext>
                </a:extLst>
              </a:blip>
              <a:srcRect/>
              <a:stretch>
                <a:fillRect/>
              </a:stretch>
            </p:blipFill>
            <p:spPr bwMode="auto">
              <a:xfrm>
                <a:off x="23101393" y="9115360"/>
                <a:ext cx="1129573" cy="46166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7">
                <a:extLst>
                  <a:ext uri="{FF2B5EF4-FFF2-40B4-BE49-F238E27FC236}">
                    <a16:creationId xmlns:a16="http://schemas.microsoft.com/office/drawing/2014/main" id="{D46BF39A-4446-1816-0DCD-559D5818B03A}"/>
                  </a:ext>
                </a:extLst>
              </p:cNvPr>
              <p:cNvPicPr>
                <a:picLocks noChangeAspect="1" noChangeArrowheads="1"/>
              </p:cNvPicPr>
              <p:nvPr/>
            </p:nvPicPr>
            <p:blipFill>
              <a:blip r:embed="rId14" cstate="hqprint">
                <a:extLst>
                  <a:ext uri="{28A0092B-C50C-407E-A947-70E740481C1C}">
                    <a14:useLocalDpi xmlns:a14="http://schemas.microsoft.com/office/drawing/2010/main"/>
                  </a:ext>
                </a:extLst>
              </a:blip>
              <a:srcRect/>
              <a:stretch>
                <a:fillRect/>
              </a:stretch>
            </p:blipFill>
            <p:spPr bwMode="auto">
              <a:xfrm>
                <a:off x="23101393" y="9691342"/>
                <a:ext cx="1000075" cy="2746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9">
                <a:extLst>
                  <a:ext uri="{FF2B5EF4-FFF2-40B4-BE49-F238E27FC236}">
                    <a16:creationId xmlns:a16="http://schemas.microsoft.com/office/drawing/2014/main" id="{3717DE60-022D-318F-795A-E8CBD41834B1}"/>
                  </a:ext>
                </a:extLst>
              </p:cNvPr>
              <p:cNvPicPr>
                <a:picLocks noChangeAspect="1" noChangeArrowheads="1"/>
              </p:cNvPicPr>
              <p:nvPr/>
            </p:nvPicPr>
            <p:blipFill>
              <a:blip r:embed="rId15" cstate="hqprint">
                <a:extLst>
                  <a:ext uri="{28A0092B-C50C-407E-A947-70E740481C1C}">
                    <a14:useLocalDpi xmlns:a14="http://schemas.microsoft.com/office/drawing/2010/main"/>
                  </a:ext>
                </a:extLst>
              </a:blip>
              <a:srcRect/>
              <a:stretch>
                <a:fillRect/>
              </a:stretch>
            </p:blipFill>
            <p:spPr bwMode="auto">
              <a:xfrm>
                <a:off x="23101393" y="10195892"/>
                <a:ext cx="1603953" cy="29134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1">
                <a:extLst>
                  <a:ext uri="{FF2B5EF4-FFF2-40B4-BE49-F238E27FC236}">
                    <a16:creationId xmlns:a16="http://schemas.microsoft.com/office/drawing/2014/main" id="{AEB632CD-2F69-D640-F8AD-603EEB4AE4FF}"/>
                  </a:ext>
                </a:extLst>
              </p:cNvPr>
              <p:cNvPicPr>
                <a:picLocks noChangeAspect="1" noChangeArrowheads="1"/>
              </p:cNvPicPr>
              <p:nvPr/>
            </p:nvPicPr>
            <p:blipFill>
              <a:blip r:embed="rId16" cstate="hqprint">
                <a:extLst>
                  <a:ext uri="{28A0092B-C50C-407E-A947-70E740481C1C}">
                    <a14:useLocalDpi xmlns:a14="http://schemas.microsoft.com/office/drawing/2010/main"/>
                  </a:ext>
                </a:extLst>
              </a:blip>
              <a:srcRect/>
              <a:stretch>
                <a:fillRect/>
              </a:stretch>
            </p:blipFill>
            <p:spPr bwMode="auto">
              <a:xfrm>
                <a:off x="23058731" y="10537862"/>
                <a:ext cx="1264131" cy="29134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5">
                <a:extLst>
                  <a:ext uri="{FF2B5EF4-FFF2-40B4-BE49-F238E27FC236}">
                    <a16:creationId xmlns:a16="http://schemas.microsoft.com/office/drawing/2014/main" id="{A333EE8F-88A9-11C0-3028-082E4278485E}"/>
                  </a:ext>
                </a:extLst>
              </p:cNvPr>
              <p:cNvPicPr>
                <a:picLocks noChangeAspect="1" noChangeArrowheads="1"/>
              </p:cNvPicPr>
              <p:nvPr/>
            </p:nvPicPr>
            <p:blipFill>
              <a:blip r:embed="rId17" cstate="hqprint">
                <a:extLst>
                  <a:ext uri="{28A0092B-C50C-407E-A947-70E740481C1C}">
                    <a14:useLocalDpi xmlns:a14="http://schemas.microsoft.com/office/drawing/2010/main"/>
                  </a:ext>
                </a:extLst>
              </a:blip>
              <a:srcRect/>
              <a:stretch>
                <a:fillRect/>
              </a:stretch>
            </p:blipFill>
            <p:spPr bwMode="auto">
              <a:xfrm>
                <a:off x="25526236" y="9499375"/>
                <a:ext cx="705290" cy="55609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EA53242B-E9BA-43D2-34AC-D8768EBC5A3F}"/>
                  </a:ext>
                </a:extLst>
              </p:cNvPr>
              <p:cNvPicPr>
                <a:picLocks noChangeAspect="1"/>
              </p:cNvPicPr>
              <p:nvPr/>
            </p:nvPicPr>
            <p:blipFill>
              <a:blip r:embed="rId18" cstate="hqprint">
                <a:extLst>
                  <a:ext uri="{28A0092B-C50C-407E-A947-70E740481C1C}">
                    <a14:useLocalDpi xmlns:a14="http://schemas.microsoft.com/office/drawing/2010/main"/>
                  </a:ext>
                </a:extLst>
              </a:blip>
              <a:stretch>
                <a:fillRect/>
              </a:stretch>
            </p:blipFill>
            <p:spPr>
              <a:xfrm>
                <a:off x="25419308" y="10004090"/>
                <a:ext cx="1605113" cy="497115"/>
              </a:xfrm>
              <a:prstGeom prst="rect">
                <a:avLst/>
              </a:prstGeom>
            </p:spPr>
          </p:pic>
          <p:pic>
            <p:nvPicPr>
              <p:cNvPr id="35" name="Picture 19" descr="Texas Biomedical Research Institute - Profile">
                <a:extLst>
                  <a:ext uri="{FF2B5EF4-FFF2-40B4-BE49-F238E27FC236}">
                    <a16:creationId xmlns:a16="http://schemas.microsoft.com/office/drawing/2014/main" id="{0E42FCB8-DC77-65BA-CA26-0D034541EF7B}"/>
                  </a:ext>
                </a:extLst>
              </p:cNvPr>
              <p:cNvPicPr>
                <a:picLocks noChangeAspect="1" noChangeArrowheads="1"/>
              </p:cNvPicPr>
              <p:nvPr/>
            </p:nvPicPr>
            <p:blipFill>
              <a:blip r:embed="rId19" cstate="hqprint">
                <a:extLst>
                  <a:ext uri="{28A0092B-C50C-407E-A947-70E740481C1C}">
                    <a14:useLocalDpi xmlns:a14="http://schemas.microsoft.com/office/drawing/2010/main"/>
                  </a:ext>
                </a:extLst>
              </a:blip>
              <a:srcRect/>
              <a:stretch>
                <a:fillRect/>
              </a:stretch>
            </p:blipFill>
            <p:spPr bwMode="auto">
              <a:xfrm>
                <a:off x="25473308" y="9993585"/>
                <a:ext cx="1360206" cy="1360206"/>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7" descr="TSMC - Wikipedia">
                <a:extLst>
                  <a:ext uri="{FF2B5EF4-FFF2-40B4-BE49-F238E27FC236}">
                    <a16:creationId xmlns:a16="http://schemas.microsoft.com/office/drawing/2014/main" id="{D712EC52-3331-A6B3-F541-60CCCD0A59D4}"/>
                  </a:ext>
                </a:extLst>
              </p:cNvPr>
              <p:cNvPicPr>
                <a:picLocks noChangeAspect="1" noChangeArrowheads="1"/>
              </p:cNvPicPr>
              <p:nvPr/>
            </p:nvPicPr>
            <p:blipFill>
              <a:blip r:embed="rId20" cstate="hqprint">
                <a:extLst>
                  <a:ext uri="{28A0092B-C50C-407E-A947-70E740481C1C}">
                    <a14:useLocalDpi xmlns:a14="http://schemas.microsoft.com/office/drawing/2010/main"/>
                  </a:ext>
                </a:extLst>
              </a:blip>
              <a:srcRect/>
              <a:stretch>
                <a:fillRect/>
              </a:stretch>
            </p:blipFill>
            <p:spPr bwMode="auto">
              <a:xfrm>
                <a:off x="27918753" y="9618992"/>
                <a:ext cx="835704" cy="6588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A445BAEB-BE58-5333-D162-BEBCA3C4B895}"/>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27900622" y="10415409"/>
                <a:ext cx="1345673" cy="358846"/>
              </a:xfrm>
              <a:prstGeom prst="rect">
                <a:avLst/>
              </a:prstGeom>
            </p:spPr>
          </p:pic>
          <p:pic>
            <p:nvPicPr>
              <p:cNvPr id="38" name="Picture 4">
                <a:extLst>
                  <a:ext uri="{FF2B5EF4-FFF2-40B4-BE49-F238E27FC236}">
                    <a16:creationId xmlns:a16="http://schemas.microsoft.com/office/drawing/2014/main" id="{62101350-D14D-7131-A88E-A1024F85C17A}"/>
                  </a:ext>
                </a:extLst>
              </p:cNvPr>
              <p:cNvPicPr>
                <a:picLocks noChangeAspect="1" noChangeArrowheads="1"/>
              </p:cNvPicPr>
              <p:nvPr/>
            </p:nvPicPr>
            <p:blipFill>
              <a:blip r:embed="rId22" cstate="hqprint">
                <a:extLst>
                  <a:ext uri="{28A0092B-C50C-407E-A947-70E740481C1C}">
                    <a14:useLocalDpi xmlns:a14="http://schemas.microsoft.com/office/drawing/2010/main"/>
                  </a:ext>
                </a:extLst>
              </a:blip>
              <a:srcRect/>
              <a:stretch>
                <a:fillRect/>
              </a:stretch>
            </p:blipFill>
            <p:spPr bwMode="auto">
              <a:xfrm>
                <a:off x="30399886" y="8894660"/>
                <a:ext cx="965161" cy="50960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3E6C7A11-E2A6-9044-F4D0-268DA2125151}"/>
                  </a:ext>
                </a:extLst>
              </p:cNvPr>
              <p:cNvPicPr>
                <a:picLocks noChangeAspect="1"/>
              </p:cNvPicPr>
              <p:nvPr/>
            </p:nvPicPr>
            <p:blipFill>
              <a:blip r:embed="rId23" cstate="hqprint">
                <a:extLst>
                  <a:ext uri="{28A0092B-C50C-407E-A947-70E740481C1C}">
                    <a14:useLocalDpi xmlns:a14="http://schemas.microsoft.com/office/drawing/2010/main"/>
                  </a:ext>
                </a:extLst>
              </a:blip>
              <a:stretch>
                <a:fillRect/>
              </a:stretch>
            </p:blipFill>
            <p:spPr>
              <a:xfrm>
                <a:off x="30428123" y="9578213"/>
                <a:ext cx="956710" cy="348489"/>
              </a:xfrm>
              <a:prstGeom prst="rect">
                <a:avLst/>
              </a:prstGeom>
            </p:spPr>
          </p:pic>
          <p:pic>
            <p:nvPicPr>
              <p:cNvPr id="40" name="Picture 39">
                <a:extLst>
                  <a:ext uri="{FF2B5EF4-FFF2-40B4-BE49-F238E27FC236}">
                    <a16:creationId xmlns:a16="http://schemas.microsoft.com/office/drawing/2014/main" id="{52AE1E14-B600-2BD5-2F26-B49E1A51ACC3}"/>
                  </a:ext>
                </a:extLst>
              </p:cNvPr>
              <p:cNvPicPr>
                <a:picLocks noChangeAspect="1"/>
              </p:cNvPicPr>
              <p:nvPr/>
            </p:nvPicPr>
            <p:blipFill>
              <a:blip r:embed="rId24" cstate="hqprint">
                <a:extLst>
                  <a:ext uri="{28A0092B-C50C-407E-A947-70E740481C1C}">
                    <a14:useLocalDpi xmlns:a14="http://schemas.microsoft.com/office/drawing/2010/main"/>
                  </a:ext>
                </a:extLst>
              </a:blip>
              <a:stretch>
                <a:fillRect/>
              </a:stretch>
            </p:blipFill>
            <p:spPr>
              <a:xfrm>
                <a:off x="30425286" y="9891093"/>
                <a:ext cx="1382793" cy="465512"/>
              </a:xfrm>
              <a:prstGeom prst="rect">
                <a:avLst/>
              </a:prstGeom>
            </p:spPr>
          </p:pic>
          <p:pic>
            <p:nvPicPr>
              <p:cNvPr id="41" name="Picture 40">
                <a:extLst>
                  <a:ext uri="{FF2B5EF4-FFF2-40B4-BE49-F238E27FC236}">
                    <a16:creationId xmlns:a16="http://schemas.microsoft.com/office/drawing/2014/main" id="{76839F35-BF8D-4CA3-82F4-7E53375EEB41}"/>
                  </a:ext>
                </a:extLst>
              </p:cNvPr>
              <p:cNvPicPr>
                <a:picLocks noChangeAspect="1"/>
              </p:cNvPicPr>
              <p:nvPr/>
            </p:nvPicPr>
            <p:blipFill>
              <a:blip r:embed="rId25" cstate="hqprint">
                <a:extLst>
                  <a:ext uri="{28A0092B-C50C-407E-A947-70E740481C1C}">
                    <a14:useLocalDpi xmlns:a14="http://schemas.microsoft.com/office/drawing/2010/main"/>
                  </a:ext>
                </a:extLst>
              </a:blip>
              <a:stretch>
                <a:fillRect/>
              </a:stretch>
            </p:blipFill>
            <p:spPr>
              <a:xfrm>
                <a:off x="30399886" y="10413910"/>
                <a:ext cx="1345673" cy="425128"/>
              </a:xfrm>
              <a:prstGeom prst="rect">
                <a:avLst/>
              </a:prstGeom>
            </p:spPr>
          </p:pic>
        </p:grpSp>
        <p:pic>
          <p:nvPicPr>
            <p:cNvPr id="27" name="Picture 26" descr="File:Intel logo 2023.svg - Wikimedia Commons">
              <a:extLst>
                <a:ext uri="{FF2B5EF4-FFF2-40B4-BE49-F238E27FC236}">
                  <a16:creationId xmlns:a16="http://schemas.microsoft.com/office/drawing/2014/main" id="{26CFFB29-0E75-3129-747A-F4656D970C49}"/>
                </a:ext>
              </a:extLst>
            </p:cNvPr>
            <p:cNvPicPr>
              <a:picLocks noChangeAspect="1"/>
            </p:cNvPicPr>
            <p:nvPr/>
          </p:nvPicPr>
          <p:blipFill>
            <a:blip r:embed="rId26" cstate="hqprint">
              <a:extLst>
                <a:ext uri="{28A0092B-C50C-407E-A947-70E740481C1C}">
                  <a14:useLocalDpi xmlns:a14="http://schemas.microsoft.com/office/drawing/2010/main"/>
                </a:ext>
              </a:extLst>
            </a:blip>
            <a:stretch>
              <a:fillRect/>
            </a:stretch>
          </p:blipFill>
          <p:spPr>
            <a:xfrm>
              <a:off x="27924925" y="8442485"/>
              <a:ext cx="796500" cy="309059"/>
            </a:xfrm>
            <a:prstGeom prst="rect">
              <a:avLst/>
            </a:prstGeom>
          </p:spPr>
        </p:pic>
      </p:grpSp>
      <p:sp>
        <p:nvSpPr>
          <p:cNvPr id="43" name="TextBox 42">
            <a:extLst>
              <a:ext uri="{FF2B5EF4-FFF2-40B4-BE49-F238E27FC236}">
                <a16:creationId xmlns:a16="http://schemas.microsoft.com/office/drawing/2014/main" id="{77B71A23-A489-1D65-721C-43BD65183885}"/>
              </a:ext>
            </a:extLst>
          </p:cNvPr>
          <p:cNvSpPr txBox="1"/>
          <p:nvPr/>
        </p:nvSpPr>
        <p:spPr>
          <a:xfrm>
            <a:off x="31853204" y="16882129"/>
            <a:ext cx="9895466" cy="3359894"/>
          </a:xfrm>
          <a:prstGeom prst="rect">
            <a:avLst/>
          </a:prstGeom>
          <a:noFill/>
        </p:spPr>
        <p:txBody>
          <a:bodyPr wrap="square" rtlCol="0">
            <a:spAutoFit/>
          </a:bodyPr>
          <a:lstStyle/>
          <a:p>
            <a:pPr marL="342900" indent="-342900" defTabSz="4036710">
              <a:spcBef>
                <a:spcPts val="800"/>
              </a:spcBef>
              <a:buClr>
                <a:schemeClr val="accent1"/>
              </a:buClr>
              <a:buFont typeface="Arial" panose="020B0604020202020204" pitchFamily="34" charset="0"/>
              <a:buChar char="•"/>
            </a:pPr>
            <a:r>
              <a:rPr lang="en-US" sz="2600" dirty="0"/>
              <a:t>Based on most comparable systems, final product cost (if sold direct to consumer) would be ~$200k-$500k</a:t>
            </a:r>
            <a:r>
              <a:rPr lang="en-US" sz="2600" baseline="30000" dirty="0"/>
              <a:t>8,9</a:t>
            </a:r>
          </a:p>
          <a:p>
            <a:pPr marL="342900" indent="-342900" defTabSz="4036710">
              <a:spcBef>
                <a:spcPts val="800"/>
              </a:spcBef>
              <a:buClr>
                <a:schemeClr val="accent1"/>
              </a:buClr>
              <a:buFont typeface="Arial" panose="020B0604020202020204" pitchFamily="34" charset="0"/>
              <a:buChar char="•"/>
            </a:pPr>
            <a:r>
              <a:rPr lang="en-US" sz="2600" dirty="0"/>
              <a:t>Potential direct to consumer or provided service business model</a:t>
            </a:r>
          </a:p>
          <a:p>
            <a:pPr marL="342900" indent="-342900" defTabSz="4036710">
              <a:spcBef>
                <a:spcPts val="800"/>
              </a:spcBef>
              <a:buClr>
                <a:schemeClr val="accent1"/>
              </a:buClr>
              <a:buFont typeface="Arial" panose="020B0604020202020204" pitchFamily="34" charset="0"/>
              <a:buChar char="•"/>
            </a:pPr>
            <a:r>
              <a:rPr lang="en-US" sz="2600" dirty="0"/>
              <a:t>Average cost of one recall in pharma or semiconductor manufacturing is between $50M-$600M just for product cost. This doesn’t include indirect costs like litigation, settlements, or brand damage</a:t>
            </a:r>
            <a:r>
              <a:rPr lang="en-US" sz="2600" baseline="30000" dirty="0"/>
              <a:t>10,11</a:t>
            </a:r>
          </a:p>
          <a:p>
            <a:pPr marL="571500" indent="-571500">
              <a:buFont typeface="Arial" panose="020B0604020202020204" pitchFamily="34" charset="0"/>
              <a:buChar char="•"/>
            </a:pPr>
            <a:endParaRPr lang="en-US" sz="1700" dirty="0"/>
          </a:p>
        </p:txBody>
      </p:sp>
      <p:graphicFrame>
        <p:nvGraphicFramePr>
          <p:cNvPr id="45" name="Table 44">
            <a:extLst>
              <a:ext uri="{FF2B5EF4-FFF2-40B4-BE49-F238E27FC236}">
                <a16:creationId xmlns:a16="http://schemas.microsoft.com/office/drawing/2014/main" id="{7F308BC0-17D3-AE55-FBD0-CD7BCE48AFF5}"/>
              </a:ext>
            </a:extLst>
          </p:cNvPr>
          <p:cNvGraphicFramePr>
            <a:graphicFrameLocks noGrp="1"/>
          </p:cNvGraphicFramePr>
          <p:nvPr>
            <p:extLst>
              <p:ext uri="{D42A27DB-BD31-4B8C-83A1-F6EECF244321}">
                <p14:modId xmlns:p14="http://schemas.microsoft.com/office/powerpoint/2010/main" val="692555156"/>
              </p:ext>
            </p:extLst>
          </p:nvPr>
        </p:nvGraphicFramePr>
        <p:xfrm>
          <a:off x="32286537" y="20281092"/>
          <a:ext cx="8841521" cy="1310640"/>
        </p:xfrm>
        <a:graphic>
          <a:graphicData uri="http://schemas.openxmlformats.org/drawingml/2006/table">
            <a:tbl>
              <a:tblPr firstRow="1" bandRow="1">
                <a:tableStyleId>{5C22544A-7EE6-4342-B048-85BDC9FD1C3A}</a:tableStyleId>
              </a:tblPr>
              <a:tblGrid>
                <a:gridCol w="3583318">
                  <a:extLst>
                    <a:ext uri="{9D8B030D-6E8A-4147-A177-3AD203B41FA5}">
                      <a16:colId xmlns:a16="http://schemas.microsoft.com/office/drawing/2014/main" val="3230500959"/>
                    </a:ext>
                  </a:extLst>
                </a:gridCol>
                <a:gridCol w="2358640">
                  <a:extLst>
                    <a:ext uri="{9D8B030D-6E8A-4147-A177-3AD203B41FA5}">
                      <a16:colId xmlns:a16="http://schemas.microsoft.com/office/drawing/2014/main" val="3181711473"/>
                    </a:ext>
                  </a:extLst>
                </a:gridCol>
                <a:gridCol w="2899563">
                  <a:extLst>
                    <a:ext uri="{9D8B030D-6E8A-4147-A177-3AD203B41FA5}">
                      <a16:colId xmlns:a16="http://schemas.microsoft.com/office/drawing/2014/main" val="2669679874"/>
                    </a:ext>
                  </a:extLst>
                </a:gridCol>
              </a:tblGrid>
              <a:tr h="242640">
                <a:tc>
                  <a:txBody>
                    <a:bodyPr/>
                    <a:lstStyle/>
                    <a:p>
                      <a:pPr algn="ctr"/>
                      <a:r>
                        <a:rPr lang="en-US" sz="1200" dirty="0"/>
                        <a:t>Market Estimates</a:t>
                      </a:r>
                    </a:p>
                  </a:txBody>
                  <a:tcPr/>
                </a:tc>
                <a:tc>
                  <a:txBody>
                    <a:bodyPr/>
                    <a:lstStyle/>
                    <a:p>
                      <a:pPr algn="ctr"/>
                      <a:r>
                        <a:rPr lang="en-US" sz="1200" dirty="0"/>
                        <a:t>Top-Down Assessment</a:t>
                      </a:r>
                    </a:p>
                  </a:txBody>
                  <a:tcPr/>
                </a:tc>
                <a:tc>
                  <a:txBody>
                    <a:bodyPr/>
                    <a:lstStyle/>
                    <a:p>
                      <a:pPr algn="ctr"/>
                      <a:r>
                        <a:rPr lang="en-US" sz="1200" dirty="0"/>
                        <a:t>Bottom-Up Assessment</a:t>
                      </a:r>
                    </a:p>
                  </a:txBody>
                  <a:tcPr/>
                </a:tc>
                <a:extLst>
                  <a:ext uri="{0D108BD9-81ED-4DB2-BD59-A6C34878D82A}">
                    <a16:rowId xmlns:a16="http://schemas.microsoft.com/office/drawing/2014/main" val="3898530589"/>
                  </a:ext>
                </a:extLst>
              </a:tr>
              <a:tr h="242640">
                <a:tc>
                  <a:txBody>
                    <a:bodyPr/>
                    <a:lstStyle/>
                    <a:p>
                      <a:r>
                        <a:rPr lang="en-US" sz="1100" b="1" dirty="0"/>
                        <a:t>Total Accessible Market (Global)</a:t>
                      </a:r>
                    </a:p>
                  </a:txBody>
                  <a:tcPr/>
                </a:tc>
                <a:tc>
                  <a:txBody>
                    <a:bodyPr/>
                    <a:lstStyle/>
                    <a:p>
                      <a:pPr algn="ctr"/>
                      <a:r>
                        <a:rPr lang="en-US" sz="1100" dirty="0"/>
                        <a:t>~$4.1B per year</a:t>
                      </a:r>
                    </a:p>
                  </a:txBody>
                  <a:tcPr/>
                </a:tc>
                <a:tc>
                  <a:txBody>
                    <a:bodyPr/>
                    <a:lstStyle/>
                    <a:p>
                      <a:pPr algn="ctr"/>
                      <a:r>
                        <a:rPr lang="en-US" sz="1100" dirty="0"/>
                        <a:t>~$350 - 400M per year</a:t>
                      </a:r>
                    </a:p>
                  </a:txBody>
                  <a:tcPr/>
                </a:tc>
                <a:extLst>
                  <a:ext uri="{0D108BD9-81ED-4DB2-BD59-A6C34878D82A}">
                    <a16:rowId xmlns:a16="http://schemas.microsoft.com/office/drawing/2014/main" val="2270934631"/>
                  </a:ext>
                </a:extLst>
              </a:tr>
              <a:tr h="242640">
                <a:tc>
                  <a:txBody>
                    <a:bodyPr/>
                    <a:lstStyle/>
                    <a:p>
                      <a:r>
                        <a:rPr lang="en-US" sz="1100" b="1" dirty="0"/>
                        <a:t>Total Accessible Market (U.S.)</a:t>
                      </a:r>
                    </a:p>
                  </a:txBody>
                  <a:tcPr/>
                </a:tc>
                <a:tc>
                  <a:txBody>
                    <a:bodyPr/>
                    <a:lstStyle/>
                    <a:p>
                      <a:pPr algn="ctr"/>
                      <a:r>
                        <a:rPr lang="en-US" sz="1100" dirty="0"/>
                        <a:t>~$1.0 - 1.3B per year</a:t>
                      </a:r>
                    </a:p>
                  </a:txBody>
                  <a:tcPr/>
                </a:tc>
                <a:tc>
                  <a:txBody>
                    <a:bodyPr/>
                    <a:lstStyle/>
                    <a:p>
                      <a:pPr algn="ctr"/>
                      <a:r>
                        <a:rPr lang="en-US" sz="1100" dirty="0"/>
                        <a:t>~$100 - 110M per year</a:t>
                      </a:r>
                    </a:p>
                  </a:txBody>
                  <a:tcPr/>
                </a:tc>
                <a:extLst>
                  <a:ext uri="{0D108BD9-81ED-4DB2-BD59-A6C34878D82A}">
                    <a16:rowId xmlns:a16="http://schemas.microsoft.com/office/drawing/2014/main" val="742906590"/>
                  </a:ext>
                </a:extLst>
              </a:tr>
              <a:tr h="242640">
                <a:tc>
                  <a:txBody>
                    <a:bodyPr/>
                    <a:lstStyle/>
                    <a:p>
                      <a:r>
                        <a:rPr lang="en-US" sz="1100" b="1" dirty="0"/>
                        <a:t>Serviceable Available Market (Global)</a:t>
                      </a:r>
                    </a:p>
                  </a:txBody>
                  <a:tcPr/>
                </a:tc>
                <a:tc>
                  <a:txBody>
                    <a:bodyPr/>
                    <a:lstStyle/>
                    <a:p>
                      <a:pPr algn="ctr"/>
                      <a:r>
                        <a:rPr lang="en-US" sz="1100" dirty="0"/>
                        <a:t>~$300 - 400M per year</a:t>
                      </a:r>
                    </a:p>
                  </a:txBody>
                  <a:tcPr/>
                </a:tc>
                <a:tc>
                  <a:txBody>
                    <a:bodyPr/>
                    <a:lstStyle/>
                    <a:p>
                      <a:pPr algn="ctr"/>
                      <a:r>
                        <a:rPr lang="en-US" sz="1100" dirty="0"/>
                        <a:t>~$120 - 130M per year</a:t>
                      </a:r>
                    </a:p>
                  </a:txBody>
                  <a:tcPr/>
                </a:tc>
                <a:extLst>
                  <a:ext uri="{0D108BD9-81ED-4DB2-BD59-A6C34878D82A}">
                    <a16:rowId xmlns:a16="http://schemas.microsoft.com/office/drawing/2014/main" val="148096309"/>
                  </a:ext>
                </a:extLst>
              </a:tr>
              <a:tr h="242640">
                <a:tc>
                  <a:txBody>
                    <a:bodyPr/>
                    <a:lstStyle/>
                    <a:p>
                      <a:r>
                        <a:rPr lang="en-US" sz="1100" b="1" dirty="0"/>
                        <a:t>Serviceable Available Market (U.S.)</a:t>
                      </a:r>
                    </a:p>
                  </a:txBody>
                  <a:tcPr/>
                </a:tc>
                <a:tc>
                  <a:txBody>
                    <a:bodyPr/>
                    <a:lstStyle/>
                    <a:p>
                      <a:pPr algn="ctr"/>
                      <a:r>
                        <a:rPr lang="en-US" sz="1100" dirty="0"/>
                        <a:t>~$150 - 170M per year</a:t>
                      </a:r>
                    </a:p>
                  </a:txBody>
                  <a:tcPr/>
                </a:tc>
                <a:tc>
                  <a:txBody>
                    <a:bodyPr/>
                    <a:lstStyle/>
                    <a:p>
                      <a:pPr algn="ctr"/>
                      <a:r>
                        <a:rPr lang="en-US" sz="1100" dirty="0"/>
                        <a:t>~$30 - 35M per year</a:t>
                      </a:r>
                    </a:p>
                  </a:txBody>
                  <a:tcPr/>
                </a:tc>
                <a:extLst>
                  <a:ext uri="{0D108BD9-81ED-4DB2-BD59-A6C34878D82A}">
                    <a16:rowId xmlns:a16="http://schemas.microsoft.com/office/drawing/2014/main" val="1289334090"/>
                  </a:ext>
                </a:extLst>
              </a:tr>
            </a:tbl>
          </a:graphicData>
        </a:graphic>
      </p:graphicFrame>
      <p:grpSp>
        <p:nvGrpSpPr>
          <p:cNvPr id="215" name="Group 214">
            <a:extLst>
              <a:ext uri="{FF2B5EF4-FFF2-40B4-BE49-F238E27FC236}">
                <a16:creationId xmlns:a16="http://schemas.microsoft.com/office/drawing/2014/main" id="{21EC6620-D34F-B9CF-568B-1191BE67AB85}"/>
              </a:ext>
            </a:extLst>
          </p:cNvPr>
          <p:cNvGrpSpPr/>
          <p:nvPr/>
        </p:nvGrpSpPr>
        <p:grpSpPr>
          <a:xfrm>
            <a:off x="1004495" y="13660767"/>
            <a:ext cx="10160189" cy="3166961"/>
            <a:chOff x="1079999" y="13873359"/>
            <a:chExt cx="10160189" cy="3166961"/>
          </a:xfrm>
        </p:grpSpPr>
        <p:pic>
          <p:nvPicPr>
            <p:cNvPr id="46" name="Picture 45" descr="Applsci 08 00224 g003">
              <a:extLst>
                <a:ext uri="{FF2B5EF4-FFF2-40B4-BE49-F238E27FC236}">
                  <a16:creationId xmlns:a16="http://schemas.microsoft.com/office/drawing/2014/main" id="{C30DC021-D436-7058-7CE2-E519EC3B9CC8}"/>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1079999" y="14139191"/>
              <a:ext cx="5280426" cy="2220762"/>
            </a:xfrm>
            <a:prstGeom prst="rect">
              <a:avLst/>
            </a:prstGeom>
          </p:spPr>
        </p:pic>
        <p:pic>
          <p:nvPicPr>
            <p:cNvPr id="47" name="Picture 46" descr="Applsci 08 00224 g004">
              <a:extLst>
                <a:ext uri="{FF2B5EF4-FFF2-40B4-BE49-F238E27FC236}">
                  <a16:creationId xmlns:a16="http://schemas.microsoft.com/office/drawing/2014/main" id="{3F882D99-1FC5-4865-AC56-0B5AA214E80A}"/>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6493391" y="13873359"/>
              <a:ext cx="4606907" cy="2625466"/>
            </a:xfrm>
            <a:prstGeom prst="rect">
              <a:avLst/>
            </a:prstGeom>
          </p:spPr>
        </p:pic>
        <p:sp>
          <p:nvSpPr>
            <p:cNvPr id="48" name="TextBox 47">
              <a:extLst>
                <a:ext uri="{FF2B5EF4-FFF2-40B4-BE49-F238E27FC236}">
                  <a16:creationId xmlns:a16="http://schemas.microsoft.com/office/drawing/2014/main" id="{862DA4CD-378F-2779-B365-0FABE1134372}"/>
                </a:ext>
              </a:extLst>
            </p:cNvPr>
            <p:cNvSpPr txBox="1"/>
            <p:nvPr/>
          </p:nvSpPr>
          <p:spPr>
            <a:xfrm>
              <a:off x="6761124" y="16483982"/>
              <a:ext cx="4479064" cy="246221"/>
            </a:xfrm>
            <a:prstGeom prst="rect">
              <a:avLst/>
            </a:prstGeom>
            <a:noFill/>
          </p:spPr>
          <p:txBody>
            <a:bodyPr wrap="square" rtlCol="0">
              <a:spAutoFit/>
            </a:bodyPr>
            <a:lstStyle/>
            <a:p>
              <a:r>
                <a:rPr lang="en-US" sz="1000" b="1" i="1" dirty="0"/>
                <a:t>Figure 2. </a:t>
              </a:r>
              <a:r>
                <a:rPr lang="en-US" sz="1000" i="1" dirty="0"/>
                <a:t>Change in the particle defect size with respect to the pitch.</a:t>
              </a:r>
              <a:r>
                <a:rPr lang="en-US" sz="1000" i="1" baseline="30000" dirty="0"/>
                <a:t>2</a:t>
              </a:r>
              <a:endParaRPr lang="en-US" sz="1000" i="1" dirty="0"/>
            </a:p>
          </p:txBody>
        </p:sp>
        <p:sp>
          <p:nvSpPr>
            <p:cNvPr id="49" name="TextBox 48">
              <a:extLst>
                <a:ext uri="{FF2B5EF4-FFF2-40B4-BE49-F238E27FC236}">
                  <a16:creationId xmlns:a16="http://schemas.microsoft.com/office/drawing/2014/main" id="{99E04437-79E0-4BF6-9EB9-429995E1E7AF}"/>
                </a:ext>
              </a:extLst>
            </p:cNvPr>
            <p:cNvSpPr txBox="1"/>
            <p:nvPr/>
          </p:nvSpPr>
          <p:spPr>
            <a:xfrm>
              <a:off x="1164697" y="16363212"/>
              <a:ext cx="5363570" cy="677108"/>
            </a:xfrm>
            <a:prstGeom prst="rect">
              <a:avLst/>
            </a:prstGeom>
            <a:noFill/>
          </p:spPr>
          <p:txBody>
            <a:bodyPr wrap="square" rtlCol="0">
              <a:spAutoFit/>
            </a:bodyPr>
            <a:lstStyle/>
            <a:p>
              <a:r>
                <a:rPr lang="en-US" sz="1000" b="1" i="1" dirty="0"/>
                <a:t>Figure 3.</a:t>
              </a:r>
              <a:r>
                <a:rPr lang="en-US" sz="1000" i="1" dirty="0"/>
                <a:t> Distribution of defects in a semiconductor manufacturing process.</a:t>
              </a:r>
              <a:r>
                <a:rPr lang="en-US" dirty="0"/>
                <a:t> </a:t>
              </a:r>
              <a:r>
                <a:rPr lang="en-US" sz="1000" dirty="0"/>
                <a:t>The pie chart on the left shows that the particle defects account for 75% of the total defects. As shown in the pie chart on the right, 75% of the particle defects are caused by process equipment </a:t>
              </a:r>
              <a:r>
                <a:rPr lang="en-US" sz="1000" i="1" baseline="30000" dirty="0"/>
                <a:t>2</a:t>
              </a:r>
              <a:r>
                <a:rPr lang="en-US" sz="1000" i="1" dirty="0"/>
                <a:t>.</a:t>
              </a:r>
            </a:p>
          </p:txBody>
        </p:sp>
      </p:grpSp>
      <p:sp>
        <p:nvSpPr>
          <p:cNvPr id="52" name="Rectangle 51">
            <a:extLst>
              <a:ext uri="{FF2B5EF4-FFF2-40B4-BE49-F238E27FC236}">
                <a16:creationId xmlns:a16="http://schemas.microsoft.com/office/drawing/2014/main" id="{6AE56766-3EE1-60B3-FD9E-594B60380B80}"/>
              </a:ext>
            </a:extLst>
          </p:cNvPr>
          <p:cNvSpPr/>
          <p:nvPr/>
        </p:nvSpPr>
        <p:spPr>
          <a:xfrm>
            <a:off x="1079999" y="6370033"/>
            <a:ext cx="10020300"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lvl="0" algn="ctr"/>
            <a:r>
              <a:rPr lang="en-US" sz="3800" b="1" dirty="0">
                <a:solidFill>
                  <a:schemeClr val="bg1"/>
                </a:solidFill>
              </a:rPr>
              <a:t>Problem</a:t>
            </a:r>
          </a:p>
        </p:txBody>
      </p:sp>
      <p:sp>
        <p:nvSpPr>
          <p:cNvPr id="54" name="Rectangle 53">
            <a:extLst>
              <a:ext uri="{FF2B5EF4-FFF2-40B4-BE49-F238E27FC236}">
                <a16:creationId xmlns:a16="http://schemas.microsoft.com/office/drawing/2014/main" id="{1555E67F-08DE-5220-0960-437C89F1C4F6}"/>
              </a:ext>
            </a:extLst>
          </p:cNvPr>
          <p:cNvSpPr/>
          <p:nvPr/>
        </p:nvSpPr>
        <p:spPr>
          <a:xfrm>
            <a:off x="31703461" y="21767533"/>
            <a:ext cx="10020300"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algn="ctr"/>
            <a:r>
              <a:rPr lang="en-US" sz="3800" b="1" dirty="0">
                <a:solidFill>
                  <a:schemeClr val="bg1"/>
                </a:solidFill>
              </a:rPr>
              <a:t>References &amp; Acknowledgements</a:t>
            </a:r>
            <a:endParaRPr lang="en-US" sz="3800" b="1" baseline="100000" dirty="0">
              <a:solidFill>
                <a:schemeClr val="bg1"/>
              </a:solidFill>
            </a:endParaRPr>
          </a:p>
        </p:txBody>
      </p:sp>
      <p:sp>
        <p:nvSpPr>
          <p:cNvPr id="56" name="Rectangle 55">
            <a:extLst>
              <a:ext uri="{FF2B5EF4-FFF2-40B4-BE49-F238E27FC236}">
                <a16:creationId xmlns:a16="http://schemas.microsoft.com/office/drawing/2014/main" id="{FBAA7CB6-0F62-E6AD-7EEB-D026EB17F70D}"/>
              </a:ext>
            </a:extLst>
          </p:cNvPr>
          <p:cNvSpPr/>
          <p:nvPr/>
        </p:nvSpPr>
        <p:spPr>
          <a:xfrm>
            <a:off x="31703461" y="10900819"/>
            <a:ext cx="10020300"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algn="ctr"/>
            <a:r>
              <a:rPr lang="en-US" sz="3800" b="1" dirty="0">
                <a:solidFill>
                  <a:schemeClr val="bg1"/>
                </a:solidFill>
              </a:rPr>
              <a:t>Market Assessment</a:t>
            </a:r>
            <a:endParaRPr lang="en-US" sz="3800" b="1" baseline="100000" dirty="0">
              <a:solidFill>
                <a:schemeClr val="bg1"/>
              </a:solidFill>
            </a:endParaRPr>
          </a:p>
        </p:txBody>
      </p:sp>
      <p:sp>
        <p:nvSpPr>
          <p:cNvPr id="58" name="Rectangle 57">
            <a:extLst>
              <a:ext uri="{FF2B5EF4-FFF2-40B4-BE49-F238E27FC236}">
                <a16:creationId xmlns:a16="http://schemas.microsoft.com/office/drawing/2014/main" id="{73B1D3BC-1A32-8937-1C4F-192EF99BF4AD}"/>
              </a:ext>
            </a:extLst>
          </p:cNvPr>
          <p:cNvSpPr/>
          <p:nvPr/>
        </p:nvSpPr>
        <p:spPr>
          <a:xfrm>
            <a:off x="1079999" y="17033052"/>
            <a:ext cx="10020300"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lvl="0" algn="ctr"/>
            <a:r>
              <a:rPr lang="en-US" sz="3800" b="1" dirty="0">
                <a:solidFill>
                  <a:schemeClr val="bg1"/>
                </a:solidFill>
              </a:rPr>
              <a:t>Solution - rtVSLI</a:t>
            </a:r>
          </a:p>
        </p:txBody>
      </p:sp>
      <p:grpSp>
        <p:nvGrpSpPr>
          <p:cNvPr id="59" name="Group 58">
            <a:extLst>
              <a:ext uri="{FF2B5EF4-FFF2-40B4-BE49-F238E27FC236}">
                <a16:creationId xmlns:a16="http://schemas.microsoft.com/office/drawing/2014/main" id="{D97A5821-BAE5-63D8-87C5-3AC0ADC5E802}"/>
              </a:ext>
            </a:extLst>
          </p:cNvPr>
          <p:cNvGrpSpPr/>
          <p:nvPr/>
        </p:nvGrpSpPr>
        <p:grpSpPr>
          <a:xfrm>
            <a:off x="1079999" y="18016910"/>
            <a:ext cx="5496979" cy="1957091"/>
            <a:chOff x="223756" y="17336586"/>
            <a:chExt cx="7498579" cy="2536858"/>
          </a:xfrm>
        </p:grpSpPr>
        <p:pic>
          <p:nvPicPr>
            <p:cNvPr id="60" name="Picture 59">
              <a:extLst>
                <a:ext uri="{FF2B5EF4-FFF2-40B4-BE49-F238E27FC236}">
                  <a16:creationId xmlns:a16="http://schemas.microsoft.com/office/drawing/2014/main" id="{05BBC41A-A665-E0F4-722F-0BE9090E2DB2}"/>
                </a:ext>
              </a:extLst>
            </p:cNvPr>
            <p:cNvPicPr>
              <a:picLocks noChangeAspect="1"/>
            </p:cNvPicPr>
            <p:nvPr/>
          </p:nvPicPr>
          <p:blipFill>
            <a:blip r:embed="rId29"/>
            <a:stretch>
              <a:fillRect/>
            </a:stretch>
          </p:blipFill>
          <p:spPr>
            <a:xfrm>
              <a:off x="223756" y="17401647"/>
              <a:ext cx="2454851" cy="2420946"/>
            </a:xfrm>
            <a:prstGeom prst="rect">
              <a:avLst/>
            </a:prstGeom>
          </p:spPr>
        </p:pic>
        <p:pic>
          <p:nvPicPr>
            <p:cNvPr id="61" name="Content Placeholder 10">
              <a:extLst>
                <a:ext uri="{FF2B5EF4-FFF2-40B4-BE49-F238E27FC236}">
                  <a16:creationId xmlns:a16="http://schemas.microsoft.com/office/drawing/2014/main" id="{B97DFC1B-AF02-2CA6-1EC6-42F54D091277}"/>
                </a:ext>
              </a:extLst>
            </p:cNvPr>
            <p:cNvPicPr>
              <a:picLocks noChangeAspect="1"/>
            </p:cNvPicPr>
            <p:nvPr/>
          </p:nvPicPr>
          <p:blipFill rotWithShape="1">
            <a:blip r:embed="rId30" cstate="print">
              <a:extLst>
                <a:ext uri="{28A0092B-C50C-407E-A947-70E740481C1C}">
                  <a14:useLocalDpi xmlns:a14="http://schemas.microsoft.com/office/drawing/2010/main"/>
                </a:ext>
              </a:extLst>
            </a:blip>
            <a:srcRect/>
            <a:stretch/>
          </p:blipFill>
          <p:spPr>
            <a:xfrm>
              <a:off x="3583817" y="17336586"/>
              <a:ext cx="4138518" cy="2536858"/>
            </a:xfrm>
            <a:prstGeom prst="rect">
              <a:avLst/>
            </a:prstGeom>
          </p:spPr>
        </p:pic>
        <p:sp>
          <p:nvSpPr>
            <p:cNvPr id="62" name="Equals 61">
              <a:extLst>
                <a:ext uri="{FF2B5EF4-FFF2-40B4-BE49-F238E27FC236}">
                  <a16:creationId xmlns:a16="http://schemas.microsoft.com/office/drawing/2014/main" id="{083CACDE-4D69-856E-0BAF-8B1013137D3C}"/>
                </a:ext>
              </a:extLst>
            </p:cNvPr>
            <p:cNvSpPr/>
            <p:nvPr/>
          </p:nvSpPr>
          <p:spPr>
            <a:xfrm>
              <a:off x="2794115" y="18244760"/>
              <a:ext cx="674193" cy="554319"/>
            </a:xfrm>
            <a:prstGeom prst="mathEqual">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3" name="Group 62">
            <a:extLst>
              <a:ext uri="{FF2B5EF4-FFF2-40B4-BE49-F238E27FC236}">
                <a16:creationId xmlns:a16="http://schemas.microsoft.com/office/drawing/2014/main" id="{F1CA654B-49C6-94FB-D85E-B0E127295B95}"/>
              </a:ext>
            </a:extLst>
          </p:cNvPr>
          <p:cNvGrpSpPr/>
          <p:nvPr/>
        </p:nvGrpSpPr>
        <p:grpSpPr>
          <a:xfrm>
            <a:off x="6761124" y="18302957"/>
            <a:ext cx="3803113" cy="1384995"/>
            <a:chOff x="7083498" y="14099428"/>
            <a:chExt cx="3803113" cy="1384995"/>
          </a:xfrm>
        </p:grpSpPr>
        <p:pic>
          <p:nvPicPr>
            <p:cNvPr id="64" name="Graphic 63" descr="Chevron arrows with solid fill">
              <a:extLst>
                <a:ext uri="{FF2B5EF4-FFF2-40B4-BE49-F238E27FC236}">
                  <a16:creationId xmlns:a16="http://schemas.microsoft.com/office/drawing/2014/main" id="{BB2971F1-8E69-1089-CA93-B29178621E0C}"/>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a:off x="7083498" y="14334726"/>
              <a:ext cx="914400" cy="914400"/>
            </a:xfrm>
            <a:prstGeom prst="rect">
              <a:avLst/>
            </a:prstGeom>
          </p:spPr>
        </p:pic>
        <p:sp>
          <p:nvSpPr>
            <p:cNvPr id="65" name="TextBox 64">
              <a:extLst>
                <a:ext uri="{FF2B5EF4-FFF2-40B4-BE49-F238E27FC236}">
                  <a16:creationId xmlns:a16="http://schemas.microsoft.com/office/drawing/2014/main" id="{B972B2BF-E11F-C71F-14B5-EEABF1244658}"/>
                </a:ext>
              </a:extLst>
            </p:cNvPr>
            <p:cNvSpPr txBox="1"/>
            <p:nvPr/>
          </p:nvSpPr>
          <p:spPr>
            <a:xfrm>
              <a:off x="7843036" y="14099428"/>
              <a:ext cx="3043575" cy="1384995"/>
            </a:xfrm>
            <a:prstGeom prst="rect">
              <a:avLst/>
            </a:prstGeom>
            <a:noFill/>
          </p:spPr>
          <p:txBody>
            <a:bodyPr wrap="square" rtlCol="0">
              <a:spAutoFit/>
            </a:bodyPr>
            <a:lstStyle/>
            <a:p>
              <a:pPr algn="ctr"/>
              <a:r>
                <a:rPr lang="en-US" sz="2800" b="1" dirty="0"/>
                <a:t>Design an automated and portable system </a:t>
              </a:r>
            </a:p>
          </p:txBody>
        </p:sp>
      </p:grpSp>
      <p:sp>
        <p:nvSpPr>
          <p:cNvPr id="69" name="TextBox 68">
            <a:extLst>
              <a:ext uri="{FF2B5EF4-FFF2-40B4-BE49-F238E27FC236}">
                <a16:creationId xmlns:a16="http://schemas.microsoft.com/office/drawing/2014/main" id="{A3676171-B395-B6E5-CBEE-2A0CD8CE7619}"/>
              </a:ext>
            </a:extLst>
          </p:cNvPr>
          <p:cNvSpPr txBox="1"/>
          <p:nvPr/>
        </p:nvSpPr>
        <p:spPr>
          <a:xfrm>
            <a:off x="718898" y="21811668"/>
            <a:ext cx="5280426" cy="5498941"/>
          </a:xfrm>
          <a:prstGeom prst="rect">
            <a:avLst/>
          </a:prstGeom>
          <a:noFill/>
        </p:spPr>
        <p:txBody>
          <a:bodyPr wrap="square" numCol="1" rtlCol="0">
            <a:spAutoFit/>
          </a:bodyPr>
          <a:lstStyle/>
          <a:p>
            <a:pPr marL="342900" indent="-342900" algn="just" defTabSz="4036710">
              <a:spcBef>
                <a:spcPts val="800"/>
              </a:spcBef>
              <a:buClr>
                <a:schemeClr val="accent1"/>
              </a:buClr>
              <a:buFont typeface="Arial" panose="020B0604020202020204" pitchFamily="34" charset="0"/>
              <a:buChar char="•"/>
            </a:pPr>
            <a:r>
              <a:rPr lang="en-US" sz="2600" dirty="0"/>
              <a:t>Project laser-grid background onto the environment and measure how the light’s path bends as it moves through the air</a:t>
            </a:r>
          </a:p>
          <a:p>
            <a:pPr marL="342900" indent="-342900" algn="just" defTabSz="4036710">
              <a:spcBef>
                <a:spcPts val="800"/>
              </a:spcBef>
              <a:buClr>
                <a:schemeClr val="accent1"/>
              </a:buClr>
              <a:buFont typeface="Arial" panose="020B0604020202020204" pitchFamily="34" charset="0"/>
              <a:buChar char="•"/>
            </a:pPr>
            <a:r>
              <a:rPr lang="en-US" sz="2600" dirty="0"/>
              <a:t>Using a slide projector and camera array, the laser grid can be moved and scaled to adjust for distances</a:t>
            </a:r>
          </a:p>
          <a:p>
            <a:pPr marL="342900" indent="-342900" algn="just" defTabSz="4036710">
              <a:spcBef>
                <a:spcPts val="800"/>
              </a:spcBef>
              <a:buClr>
                <a:schemeClr val="accent1"/>
              </a:buClr>
              <a:buFont typeface="Arial" panose="020B0604020202020204" pitchFamily="34" charset="0"/>
              <a:buChar char="•"/>
            </a:pPr>
            <a:r>
              <a:rPr lang="en-US" sz="2600" dirty="0"/>
              <a:t>Projected background can be perturbed by a rotating mirror, allowing evaluation with reference-free shadowgraph or BOS methods</a:t>
            </a:r>
            <a:r>
              <a:rPr lang="en-US" sz="2600" baseline="30000" dirty="0"/>
              <a:t>1</a:t>
            </a:r>
            <a:endParaRPr lang="en-US" sz="2600" dirty="0"/>
          </a:p>
        </p:txBody>
      </p:sp>
      <p:sp>
        <p:nvSpPr>
          <p:cNvPr id="70" name="TextBox 69">
            <a:extLst>
              <a:ext uri="{FF2B5EF4-FFF2-40B4-BE49-F238E27FC236}">
                <a16:creationId xmlns:a16="http://schemas.microsoft.com/office/drawing/2014/main" id="{398F126E-4D4B-265C-05D0-98CC1DC94DC7}"/>
              </a:ext>
            </a:extLst>
          </p:cNvPr>
          <p:cNvSpPr txBox="1"/>
          <p:nvPr/>
        </p:nvSpPr>
        <p:spPr>
          <a:xfrm>
            <a:off x="1074170" y="20237301"/>
            <a:ext cx="9899789" cy="1384995"/>
          </a:xfrm>
          <a:prstGeom prst="rect">
            <a:avLst/>
          </a:prstGeom>
          <a:noFill/>
        </p:spPr>
        <p:txBody>
          <a:bodyPr wrap="square" rtlCol="0">
            <a:spAutoFit/>
          </a:bodyPr>
          <a:lstStyle/>
          <a:p>
            <a:pPr algn="just"/>
            <a:r>
              <a:rPr lang="en-US" sz="2800" b="1" dirty="0">
                <a:solidFill>
                  <a:schemeClr val="accent1">
                    <a:lumMod val="50000"/>
                  </a:schemeClr>
                </a:solidFill>
              </a:rPr>
              <a:t>Give industries an intuitive and continuous view of the environments that protect their products by turning airflow into actionable insight for contamination prevention</a:t>
            </a:r>
          </a:p>
        </p:txBody>
      </p:sp>
      <p:sp>
        <p:nvSpPr>
          <p:cNvPr id="72" name="Rectangle 71">
            <a:extLst>
              <a:ext uri="{FF2B5EF4-FFF2-40B4-BE49-F238E27FC236}">
                <a16:creationId xmlns:a16="http://schemas.microsoft.com/office/drawing/2014/main" id="{DBB192D9-F5AC-8198-F3E8-697FE0EFA7FD}"/>
              </a:ext>
            </a:extLst>
          </p:cNvPr>
          <p:cNvSpPr/>
          <p:nvPr/>
        </p:nvSpPr>
        <p:spPr>
          <a:xfrm>
            <a:off x="11662863" y="6364800"/>
            <a:ext cx="9457735"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algn="ctr"/>
            <a:r>
              <a:rPr lang="en-US" sz="3800" b="1" dirty="0">
                <a:solidFill>
                  <a:schemeClr val="bg1"/>
                </a:solidFill>
              </a:rPr>
              <a:t>Approach</a:t>
            </a:r>
            <a:r>
              <a:rPr lang="en-US" sz="3800" b="1" baseline="30000" dirty="0">
                <a:solidFill>
                  <a:schemeClr val="bg1"/>
                </a:solidFill>
              </a:rPr>
              <a:t>1,3</a:t>
            </a:r>
            <a:endParaRPr lang="en-US" sz="3800" b="1" baseline="100000" dirty="0">
              <a:solidFill>
                <a:schemeClr val="bg1"/>
              </a:solidFill>
            </a:endParaRPr>
          </a:p>
        </p:txBody>
      </p:sp>
      <p:sp>
        <p:nvSpPr>
          <p:cNvPr id="74" name="Rectangle 73">
            <a:extLst>
              <a:ext uri="{FF2B5EF4-FFF2-40B4-BE49-F238E27FC236}">
                <a16:creationId xmlns:a16="http://schemas.microsoft.com/office/drawing/2014/main" id="{33E19C24-E84C-E3D5-C19C-22F58028011D}"/>
              </a:ext>
            </a:extLst>
          </p:cNvPr>
          <p:cNvSpPr/>
          <p:nvPr/>
        </p:nvSpPr>
        <p:spPr>
          <a:xfrm>
            <a:off x="21683161" y="6377589"/>
            <a:ext cx="9612679"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algn="ctr"/>
            <a:r>
              <a:rPr lang="en-US" sz="3800" b="1" dirty="0">
                <a:solidFill>
                  <a:schemeClr val="bg1"/>
                </a:solidFill>
              </a:rPr>
              <a:t>Results</a:t>
            </a:r>
            <a:endParaRPr lang="en-US" sz="3800" b="1" baseline="100000" dirty="0">
              <a:solidFill>
                <a:schemeClr val="bg1"/>
              </a:solidFill>
            </a:endParaRPr>
          </a:p>
        </p:txBody>
      </p:sp>
      <p:sp>
        <p:nvSpPr>
          <p:cNvPr id="75" name="Rectangle 74">
            <a:extLst>
              <a:ext uri="{FF2B5EF4-FFF2-40B4-BE49-F238E27FC236}">
                <a16:creationId xmlns:a16="http://schemas.microsoft.com/office/drawing/2014/main" id="{EBE55DAC-88AB-4189-6086-83311FE074AC}"/>
              </a:ext>
            </a:extLst>
          </p:cNvPr>
          <p:cNvSpPr/>
          <p:nvPr/>
        </p:nvSpPr>
        <p:spPr>
          <a:xfrm>
            <a:off x="11542759" y="20808600"/>
            <a:ext cx="9625862" cy="7104541"/>
          </a:xfrm>
          <a:prstGeom prst="rect">
            <a:avLst/>
          </a:prstGeom>
          <a:solidFill>
            <a:schemeClr val="bg1"/>
          </a:solidFill>
          <a:ln w="76200">
            <a:solidFill>
              <a:srgbClr val="1414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D77F5FDB-5FFD-F017-F88E-CC7D02038AD3}"/>
              </a:ext>
            </a:extLst>
          </p:cNvPr>
          <p:cNvSpPr/>
          <p:nvPr/>
        </p:nvSpPr>
        <p:spPr>
          <a:xfrm>
            <a:off x="11542759" y="11931231"/>
            <a:ext cx="9625862" cy="7443026"/>
          </a:xfrm>
          <a:prstGeom prst="rect">
            <a:avLst/>
          </a:prstGeom>
          <a:solidFill>
            <a:schemeClr val="bg1"/>
          </a:solidFill>
          <a:ln w="76200">
            <a:solidFill>
              <a:srgbClr val="1414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972EE79E-6DB7-A48E-4FB8-E007F489D7C6}"/>
              </a:ext>
            </a:extLst>
          </p:cNvPr>
          <p:cNvGrpSpPr/>
          <p:nvPr/>
        </p:nvGrpSpPr>
        <p:grpSpPr>
          <a:xfrm>
            <a:off x="11615177" y="12782688"/>
            <a:ext cx="9345073" cy="2909671"/>
            <a:chOff x="11391269" y="7222568"/>
            <a:chExt cx="9812537" cy="3017763"/>
          </a:xfrm>
        </p:grpSpPr>
        <p:grpSp>
          <p:nvGrpSpPr>
            <p:cNvPr id="78" name="Group 77">
              <a:extLst>
                <a:ext uri="{FF2B5EF4-FFF2-40B4-BE49-F238E27FC236}">
                  <a16:creationId xmlns:a16="http://schemas.microsoft.com/office/drawing/2014/main" id="{A3293361-EB17-FF20-C34A-321E3252B2EC}"/>
                </a:ext>
              </a:extLst>
            </p:cNvPr>
            <p:cNvGrpSpPr/>
            <p:nvPr/>
          </p:nvGrpSpPr>
          <p:grpSpPr>
            <a:xfrm>
              <a:off x="11391269" y="7758601"/>
              <a:ext cx="4009152" cy="2481730"/>
              <a:chOff x="12411334" y="6131087"/>
              <a:chExt cx="8133832" cy="4824148"/>
            </a:xfrm>
          </p:grpSpPr>
          <p:grpSp>
            <p:nvGrpSpPr>
              <p:cNvPr id="107" name="Group 106">
                <a:extLst>
                  <a:ext uri="{FF2B5EF4-FFF2-40B4-BE49-F238E27FC236}">
                    <a16:creationId xmlns:a16="http://schemas.microsoft.com/office/drawing/2014/main" id="{B97813DB-57B9-7FFC-5B26-9BC48F31C047}"/>
                  </a:ext>
                </a:extLst>
              </p:cNvPr>
              <p:cNvGrpSpPr/>
              <p:nvPr/>
            </p:nvGrpSpPr>
            <p:grpSpPr>
              <a:xfrm>
                <a:off x="12411334" y="6131087"/>
                <a:ext cx="8133832" cy="4824148"/>
                <a:chOff x="12411334" y="6131087"/>
                <a:chExt cx="8133832" cy="4824148"/>
              </a:xfrm>
            </p:grpSpPr>
            <p:grpSp>
              <p:nvGrpSpPr>
                <p:cNvPr id="109" name="Group 108">
                  <a:extLst>
                    <a:ext uri="{FF2B5EF4-FFF2-40B4-BE49-F238E27FC236}">
                      <a16:creationId xmlns:a16="http://schemas.microsoft.com/office/drawing/2014/main" id="{7D1607D7-AB1D-F089-D09A-59C090B2B5A8}"/>
                    </a:ext>
                  </a:extLst>
                </p:cNvPr>
                <p:cNvGrpSpPr/>
                <p:nvPr/>
              </p:nvGrpSpPr>
              <p:grpSpPr>
                <a:xfrm>
                  <a:off x="12411334" y="6131087"/>
                  <a:ext cx="8133832" cy="3175579"/>
                  <a:chOff x="10530532" y="4749801"/>
                  <a:chExt cx="11114902" cy="4683228"/>
                </a:xfrm>
              </p:grpSpPr>
              <p:pic>
                <p:nvPicPr>
                  <p:cNvPr id="113" name="Graphic 112" descr="Gyrotheodolite with solid fill">
                    <a:extLst>
                      <a:ext uri="{FF2B5EF4-FFF2-40B4-BE49-F238E27FC236}">
                        <a16:creationId xmlns:a16="http://schemas.microsoft.com/office/drawing/2014/main" id="{4D6539FC-1F56-28A3-BC9F-582AB64A7C0B}"/>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530532" y="6800026"/>
                    <a:ext cx="2633003" cy="2633003"/>
                  </a:xfrm>
                  <a:prstGeom prst="rect">
                    <a:avLst/>
                  </a:prstGeom>
                </p:spPr>
              </p:pic>
              <p:pic>
                <p:nvPicPr>
                  <p:cNvPr id="114" name="Graphic 113" descr="Windy with solid fill">
                    <a:extLst>
                      <a:ext uri="{FF2B5EF4-FFF2-40B4-BE49-F238E27FC236}">
                        <a16:creationId xmlns:a16="http://schemas.microsoft.com/office/drawing/2014/main" id="{AE554B6B-8382-EED7-75CC-37E9CFCF238B}"/>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5237328" y="6363452"/>
                    <a:ext cx="1461816" cy="1461817"/>
                  </a:xfrm>
                  <a:prstGeom prst="rect">
                    <a:avLst/>
                  </a:prstGeom>
                </p:spPr>
              </p:pic>
              <p:grpSp>
                <p:nvGrpSpPr>
                  <p:cNvPr id="115" name="Group 114">
                    <a:extLst>
                      <a:ext uri="{FF2B5EF4-FFF2-40B4-BE49-F238E27FC236}">
                        <a16:creationId xmlns:a16="http://schemas.microsoft.com/office/drawing/2014/main" id="{65DD3173-105D-65C8-F1EB-8ED38AE125F0}"/>
                      </a:ext>
                    </a:extLst>
                  </p:cNvPr>
                  <p:cNvGrpSpPr/>
                  <p:nvPr/>
                </p:nvGrpSpPr>
                <p:grpSpPr>
                  <a:xfrm>
                    <a:off x="18125400" y="4749801"/>
                    <a:ext cx="3520034" cy="4415942"/>
                    <a:chOff x="19119713" y="6709290"/>
                    <a:chExt cx="3869691" cy="4572627"/>
                  </a:xfrm>
                </p:grpSpPr>
                <p:cxnSp>
                  <p:nvCxnSpPr>
                    <p:cNvPr id="118" name="Straight Connector 117">
                      <a:extLst>
                        <a:ext uri="{FF2B5EF4-FFF2-40B4-BE49-F238E27FC236}">
                          <a16:creationId xmlns:a16="http://schemas.microsoft.com/office/drawing/2014/main" id="{13E2C501-C0C3-2E60-251F-EAC25172C41F}"/>
                        </a:ext>
                      </a:extLst>
                    </p:cNvPr>
                    <p:cNvCxnSpPr>
                      <a:stCxn id="120" idx="2"/>
                      <a:endCxn id="120" idx="0"/>
                    </p:cNvCxnSpPr>
                    <p:nvPr/>
                  </p:nvCxnSpPr>
                  <p:spPr>
                    <a:xfrm>
                      <a:off x="19119713" y="8995604"/>
                      <a:ext cx="3869690" cy="0"/>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grpSp>
                  <p:nvGrpSpPr>
                    <p:cNvPr id="119" name="Group 118">
                      <a:extLst>
                        <a:ext uri="{FF2B5EF4-FFF2-40B4-BE49-F238E27FC236}">
                          <a16:creationId xmlns:a16="http://schemas.microsoft.com/office/drawing/2014/main" id="{C40432E6-61D5-CCB0-04A0-9896F8861E0D}"/>
                        </a:ext>
                      </a:extLst>
                    </p:cNvPr>
                    <p:cNvGrpSpPr/>
                    <p:nvPr/>
                  </p:nvGrpSpPr>
                  <p:grpSpPr>
                    <a:xfrm>
                      <a:off x="19119713" y="6709290"/>
                      <a:ext cx="3869691" cy="4572627"/>
                      <a:chOff x="19119713" y="6709290"/>
                      <a:chExt cx="3869691" cy="4572627"/>
                    </a:xfrm>
                  </p:grpSpPr>
                  <p:sp>
                    <p:nvSpPr>
                      <p:cNvPr id="120" name="Flowchart: Manual Operation 119">
                        <a:extLst>
                          <a:ext uri="{FF2B5EF4-FFF2-40B4-BE49-F238E27FC236}">
                            <a16:creationId xmlns:a16="http://schemas.microsoft.com/office/drawing/2014/main" id="{788AEBDD-A8DC-2BCE-1C56-A0B190FC6CDB}"/>
                          </a:ext>
                        </a:extLst>
                      </p:cNvPr>
                      <p:cNvSpPr/>
                      <p:nvPr/>
                    </p:nvSpPr>
                    <p:spPr>
                      <a:xfrm rot="5400000">
                        <a:off x="18768245" y="7060759"/>
                        <a:ext cx="4572627" cy="3869690"/>
                      </a:xfrm>
                      <a:prstGeom prst="flowChartManualOperation">
                        <a:avLst/>
                      </a:prstGeom>
                      <a:noFill/>
                      <a:ln w="85725">
                        <a:solidFill>
                          <a:srgbClr val="27F9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1" name="Straight Connector 120">
                        <a:extLst>
                          <a:ext uri="{FF2B5EF4-FFF2-40B4-BE49-F238E27FC236}">
                            <a16:creationId xmlns:a16="http://schemas.microsoft.com/office/drawing/2014/main" id="{545DF48D-6381-8133-B6B3-A83384747A94}"/>
                          </a:ext>
                        </a:extLst>
                      </p:cNvPr>
                      <p:cNvCxnSpPr>
                        <a:stCxn id="120" idx="1"/>
                        <a:endCxn id="120" idx="3"/>
                      </p:cNvCxnSpPr>
                      <p:nvPr/>
                    </p:nvCxnSpPr>
                    <p:spPr>
                      <a:xfrm>
                        <a:off x="21054558" y="7166553"/>
                        <a:ext cx="0" cy="3658102"/>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Straight Connector 121">
                        <a:extLst>
                          <a:ext uri="{FF2B5EF4-FFF2-40B4-BE49-F238E27FC236}">
                            <a16:creationId xmlns:a16="http://schemas.microsoft.com/office/drawing/2014/main" id="{793F317E-565B-A239-E13F-4C0589DD0CC0}"/>
                          </a:ext>
                        </a:extLst>
                      </p:cNvPr>
                      <p:cNvCxnSpPr>
                        <a:cxnSpLocks/>
                      </p:cNvCxnSpPr>
                      <p:nvPr/>
                    </p:nvCxnSpPr>
                    <p:spPr>
                      <a:xfrm>
                        <a:off x="22002521" y="6941185"/>
                        <a:ext cx="0" cy="4126120"/>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Straight Connector 122">
                        <a:extLst>
                          <a:ext uri="{FF2B5EF4-FFF2-40B4-BE49-F238E27FC236}">
                            <a16:creationId xmlns:a16="http://schemas.microsoft.com/office/drawing/2014/main" id="{B6C2AB46-6F09-79E0-5D72-6B23E76FCC21}"/>
                          </a:ext>
                        </a:extLst>
                      </p:cNvPr>
                      <p:cNvCxnSpPr>
                        <a:cxnSpLocks/>
                      </p:cNvCxnSpPr>
                      <p:nvPr/>
                    </p:nvCxnSpPr>
                    <p:spPr>
                      <a:xfrm>
                        <a:off x="20206673" y="7368137"/>
                        <a:ext cx="0" cy="3240617"/>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4" name="Straight Connector 123">
                        <a:extLst>
                          <a:ext uri="{FF2B5EF4-FFF2-40B4-BE49-F238E27FC236}">
                            <a16:creationId xmlns:a16="http://schemas.microsoft.com/office/drawing/2014/main" id="{1AC50963-B06F-1C77-6DDF-28324F4218F9}"/>
                          </a:ext>
                        </a:extLst>
                      </p:cNvPr>
                      <p:cNvCxnSpPr>
                        <a:cxnSpLocks/>
                      </p:cNvCxnSpPr>
                      <p:nvPr/>
                    </p:nvCxnSpPr>
                    <p:spPr>
                      <a:xfrm>
                        <a:off x="20626446" y="7270362"/>
                        <a:ext cx="0" cy="3438433"/>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5" name="Straight Connector 124">
                        <a:extLst>
                          <a:ext uri="{FF2B5EF4-FFF2-40B4-BE49-F238E27FC236}">
                            <a16:creationId xmlns:a16="http://schemas.microsoft.com/office/drawing/2014/main" id="{ADBEC368-1586-64F7-5751-29EBC2B23B9B}"/>
                          </a:ext>
                        </a:extLst>
                      </p:cNvPr>
                      <p:cNvCxnSpPr>
                        <a:cxnSpLocks/>
                      </p:cNvCxnSpPr>
                      <p:nvPr/>
                    </p:nvCxnSpPr>
                    <p:spPr>
                      <a:xfrm>
                        <a:off x="19770221" y="7463647"/>
                        <a:ext cx="0" cy="3057745"/>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6" name="Straight Connector 125">
                        <a:extLst>
                          <a:ext uri="{FF2B5EF4-FFF2-40B4-BE49-F238E27FC236}">
                            <a16:creationId xmlns:a16="http://schemas.microsoft.com/office/drawing/2014/main" id="{C57ADF88-964D-7F92-2815-D186565A91CA}"/>
                          </a:ext>
                        </a:extLst>
                      </p:cNvPr>
                      <p:cNvCxnSpPr>
                        <a:cxnSpLocks/>
                      </p:cNvCxnSpPr>
                      <p:nvPr/>
                    </p:nvCxnSpPr>
                    <p:spPr>
                      <a:xfrm>
                        <a:off x="22475112" y="6838521"/>
                        <a:ext cx="0" cy="4344485"/>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7" name="Straight Connector 126">
                        <a:extLst>
                          <a:ext uri="{FF2B5EF4-FFF2-40B4-BE49-F238E27FC236}">
                            <a16:creationId xmlns:a16="http://schemas.microsoft.com/office/drawing/2014/main" id="{FB285DEF-8CF3-7DAD-B6B5-D3A00A0B5FD6}"/>
                          </a:ext>
                        </a:extLst>
                      </p:cNvPr>
                      <p:cNvCxnSpPr/>
                      <p:nvPr/>
                    </p:nvCxnSpPr>
                    <p:spPr>
                      <a:xfrm>
                        <a:off x="21532709" y="7065034"/>
                        <a:ext cx="0" cy="3891459"/>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Straight Connector 127">
                        <a:extLst>
                          <a:ext uri="{FF2B5EF4-FFF2-40B4-BE49-F238E27FC236}">
                            <a16:creationId xmlns:a16="http://schemas.microsoft.com/office/drawing/2014/main" id="{2B3D4848-08CA-2C6F-1BFF-BF0820708FC2}"/>
                          </a:ext>
                        </a:extLst>
                      </p:cNvPr>
                      <p:cNvCxnSpPr/>
                      <p:nvPr/>
                    </p:nvCxnSpPr>
                    <p:spPr>
                      <a:xfrm flipV="1">
                        <a:off x="19119713" y="7819534"/>
                        <a:ext cx="3869690" cy="488877"/>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29" name="Straight Connector 128">
                        <a:extLst>
                          <a:ext uri="{FF2B5EF4-FFF2-40B4-BE49-F238E27FC236}">
                            <a16:creationId xmlns:a16="http://schemas.microsoft.com/office/drawing/2014/main" id="{84842B96-DAF1-EC7F-FC92-2CE4ED58EC4A}"/>
                          </a:ext>
                        </a:extLst>
                      </p:cNvPr>
                      <p:cNvCxnSpPr/>
                      <p:nvPr/>
                    </p:nvCxnSpPr>
                    <p:spPr>
                      <a:xfrm>
                        <a:off x="19119713" y="9667235"/>
                        <a:ext cx="3869690" cy="528240"/>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Straight Connector 129">
                        <a:extLst>
                          <a:ext uri="{FF2B5EF4-FFF2-40B4-BE49-F238E27FC236}">
                            <a16:creationId xmlns:a16="http://schemas.microsoft.com/office/drawing/2014/main" id="{09CFF93D-95BA-6A02-6841-4450CC4CC136}"/>
                          </a:ext>
                        </a:extLst>
                      </p:cNvPr>
                      <p:cNvCxnSpPr>
                        <a:cxnSpLocks/>
                      </p:cNvCxnSpPr>
                      <p:nvPr/>
                    </p:nvCxnSpPr>
                    <p:spPr>
                      <a:xfrm>
                        <a:off x="19403268" y="7563688"/>
                        <a:ext cx="0" cy="2881114"/>
                      </a:xfrm>
                      <a:prstGeom prst="line">
                        <a:avLst/>
                      </a:prstGeom>
                      <a:noFill/>
                      <a:ln w="63500">
                        <a:solidFill>
                          <a:srgbClr val="27F968"/>
                        </a:solidFill>
                      </a:ln>
                    </p:spPr>
                    <p:style>
                      <a:lnRef idx="2">
                        <a:schemeClr val="accent1">
                          <a:shade val="50000"/>
                        </a:schemeClr>
                      </a:lnRef>
                      <a:fillRef idx="1">
                        <a:schemeClr val="accent1"/>
                      </a:fillRef>
                      <a:effectRef idx="0">
                        <a:schemeClr val="accent1"/>
                      </a:effectRef>
                      <a:fontRef idx="minor">
                        <a:schemeClr val="lt1"/>
                      </a:fontRef>
                    </p:style>
                  </p:cxnSp>
                </p:grpSp>
              </p:grpSp>
              <p:cxnSp>
                <p:nvCxnSpPr>
                  <p:cNvPr id="116" name="Straight Connector 115">
                    <a:extLst>
                      <a:ext uri="{FF2B5EF4-FFF2-40B4-BE49-F238E27FC236}">
                        <a16:creationId xmlns:a16="http://schemas.microsoft.com/office/drawing/2014/main" id="{4D8AD0B9-16C8-7D5D-2738-5390648EC314}"/>
                      </a:ext>
                    </a:extLst>
                  </p:cNvPr>
                  <p:cNvCxnSpPr>
                    <a:cxnSpLocks/>
                  </p:cNvCxnSpPr>
                  <p:nvPr/>
                </p:nvCxnSpPr>
                <p:spPr>
                  <a:xfrm flipH="1" flipV="1">
                    <a:off x="12171143" y="7596838"/>
                    <a:ext cx="9447784" cy="1598186"/>
                  </a:xfrm>
                  <a:prstGeom prst="line">
                    <a:avLst/>
                  </a:prstGeom>
                  <a:noFill/>
                  <a:ln w="63500">
                    <a:solidFill>
                      <a:srgbClr val="27F968"/>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17" name="Straight Connector 116">
                    <a:extLst>
                      <a:ext uri="{FF2B5EF4-FFF2-40B4-BE49-F238E27FC236}">
                        <a16:creationId xmlns:a16="http://schemas.microsoft.com/office/drawing/2014/main" id="{E6D1393E-8BB7-3636-620A-D213DC6B3C81}"/>
                      </a:ext>
                    </a:extLst>
                  </p:cNvPr>
                  <p:cNvCxnSpPr>
                    <a:cxnSpLocks/>
                  </p:cNvCxnSpPr>
                  <p:nvPr/>
                </p:nvCxnSpPr>
                <p:spPr>
                  <a:xfrm flipH="1">
                    <a:off x="12017713" y="5574922"/>
                    <a:ext cx="6365621" cy="1375937"/>
                  </a:xfrm>
                  <a:prstGeom prst="line">
                    <a:avLst/>
                  </a:prstGeom>
                  <a:noFill/>
                  <a:ln w="63500">
                    <a:solidFill>
                      <a:srgbClr val="27F968"/>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110" name="TextBox 109">
                  <a:extLst>
                    <a:ext uri="{FF2B5EF4-FFF2-40B4-BE49-F238E27FC236}">
                      <a16:creationId xmlns:a16="http://schemas.microsoft.com/office/drawing/2014/main" id="{739916EE-CAD8-038A-6C3D-CE39BB4F2529}"/>
                    </a:ext>
                  </a:extLst>
                </p:cNvPr>
                <p:cNvSpPr txBox="1"/>
                <p:nvPr/>
              </p:nvSpPr>
              <p:spPr>
                <a:xfrm>
                  <a:off x="12411334" y="9339889"/>
                  <a:ext cx="1926816" cy="1178952"/>
                </a:xfrm>
                <a:prstGeom prst="rect">
                  <a:avLst/>
                </a:prstGeom>
                <a:noFill/>
              </p:spPr>
              <p:txBody>
                <a:bodyPr wrap="square" rtlCol="0">
                  <a:spAutoFit/>
                </a:bodyPr>
                <a:lstStyle/>
                <a:p>
                  <a:pPr algn="ctr"/>
                  <a:r>
                    <a:rPr lang="en-US" sz="1600" dirty="0"/>
                    <a:t>rtVSLI System</a:t>
                  </a:r>
                </a:p>
              </p:txBody>
            </p:sp>
            <p:sp>
              <p:nvSpPr>
                <p:cNvPr id="111" name="TextBox 110">
                  <a:extLst>
                    <a:ext uri="{FF2B5EF4-FFF2-40B4-BE49-F238E27FC236}">
                      <a16:creationId xmlns:a16="http://schemas.microsoft.com/office/drawing/2014/main" id="{F6C2D6ED-50AE-939C-5172-E739AAF0192B}"/>
                    </a:ext>
                  </a:extLst>
                </p:cNvPr>
                <p:cNvSpPr txBox="1"/>
                <p:nvPr/>
              </p:nvSpPr>
              <p:spPr>
                <a:xfrm>
                  <a:off x="15131074" y="9339889"/>
                  <a:ext cx="2519092" cy="1136724"/>
                </a:xfrm>
                <a:prstGeom prst="rect">
                  <a:avLst/>
                </a:prstGeom>
                <a:noFill/>
              </p:spPr>
              <p:txBody>
                <a:bodyPr wrap="square" rtlCol="0">
                  <a:spAutoFit/>
                </a:bodyPr>
                <a:lstStyle/>
                <a:p>
                  <a:pPr algn="ctr"/>
                  <a:r>
                    <a:rPr lang="en-US" sz="1600" dirty="0"/>
                    <a:t>Air Density Gradient</a:t>
                  </a:r>
                </a:p>
              </p:txBody>
            </p:sp>
            <p:sp>
              <p:nvSpPr>
                <p:cNvPr id="112" name="TextBox 111">
                  <a:extLst>
                    <a:ext uri="{FF2B5EF4-FFF2-40B4-BE49-F238E27FC236}">
                      <a16:creationId xmlns:a16="http://schemas.microsoft.com/office/drawing/2014/main" id="{A5BB66DD-98FB-D1C4-345C-75D30D98CF05}"/>
                    </a:ext>
                  </a:extLst>
                </p:cNvPr>
                <p:cNvSpPr txBox="1"/>
                <p:nvPr/>
              </p:nvSpPr>
              <p:spPr>
                <a:xfrm>
                  <a:off x="17997647" y="9339889"/>
                  <a:ext cx="2519092" cy="1615346"/>
                </a:xfrm>
                <a:prstGeom prst="rect">
                  <a:avLst/>
                </a:prstGeom>
                <a:noFill/>
              </p:spPr>
              <p:txBody>
                <a:bodyPr wrap="square" rtlCol="0">
                  <a:spAutoFit/>
                </a:bodyPr>
                <a:lstStyle/>
                <a:p>
                  <a:pPr algn="ctr"/>
                  <a:r>
                    <a:rPr lang="en-US" sz="1600" dirty="0"/>
                    <a:t>Projected Structured Laser Grid</a:t>
                  </a:r>
                </a:p>
              </p:txBody>
            </p:sp>
          </p:grpSp>
          <p:cxnSp>
            <p:nvCxnSpPr>
              <p:cNvPr id="108" name="Straight Arrow Connector 107">
                <a:extLst>
                  <a:ext uri="{FF2B5EF4-FFF2-40B4-BE49-F238E27FC236}">
                    <a16:creationId xmlns:a16="http://schemas.microsoft.com/office/drawing/2014/main" id="{B87F96EA-087F-BD69-0F2D-2810307372EE}"/>
                  </a:ext>
                </a:extLst>
              </p:cNvPr>
              <p:cNvCxnSpPr>
                <a:stCxn id="111" idx="0"/>
                <a:endCxn id="114" idx="2"/>
              </p:cNvCxnSpPr>
              <p:nvPr/>
            </p:nvCxnSpPr>
            <p:spPr>
              <a:xfrm flipV="1">
                <a:off x="16390619" y="8216485"/>
                <a:ext cx="0" cy="1123404"/>
              </a:xfrm>
              <a:prstGeom prst="straightConnector1">
                <a:avLst/>
              </a:prstGeom>
              <a:ln w="50800">
                <a:solidFill>
                  <a:srgbClr val="14141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1157C63E-EA79-4819-4EC9-DF08209B6D4B}"/>
                </a:ext>
              </a:extLst>
            </p:cNvPr>
            <p:cNvGrpSpPr/>
            <p:nvPr/>
          </p:nvGrpSpPr>
          <p:grpSpPr>
            <a:xfrm>
              <a:off x="17061085" y="7758601"/>
              <a:ext cx="4009152" cy="2481730"/>
              <a:chOff x="12411334" y="6131087"/>
              <a:chExt cx="8133832" cy="4824148"/>
            </a:xfrm>
          </p:grpSpPr>
          <p:grpSp>
            <p:nvGrpSpPr>
              <p:cNvPr id="83" name="Group 82">
                <a:extLst>
                  <a:ext uri="{FF2B5EF4-FFF2-40B4-BE49-F238E27FC236}">
                    <a16:creationId xmlns:a16="http://schemas.microsoft.com/office/drawing/2014/main" id="{7EA28185-9478-5DF2-CC5B-A10590BE9F18}"/>
                  </a:ext>
                </a:extLst>
              </p:cNvPr>
              <p:cNvGrpSpPr/>
              <p:nvPr/>
            </p:nvGrpSpPr>
            <p:grpSpPr>
              <a:xfrm>
                <a:off x="12411334" y="6131087"/>
                <a:ext cx="8133832" cy="4824148"/>
                <a:chOff x="12411334" y="6131087"/>
                <a:chExt cx="8133832" cy="4824148"/>
              </a:xfrm>
            </p:grpSpPr>
            <p:grpSp>
              <p:nvGrpSpPr>
                <p:cNvPr id="85" name="Group 84">
                  <a:extLst>
                    <a:ext uri="{FF2B5EF4-FFF2-40B4-BE49-F238E27FC236}">
                      <a16:creationId xmlns:a16="http://schemas.microsoft.com/office/drawing/2014/main" id="{9A639EF4-1492-B079-F79E-C88E17D03D95}"/>
                    </a:ext>
                  </a:extLst>
                </p:cNvPr>
                <p:cNvGrpSpPr/>
                <p:nvPr/>
              </p:nvGrpSpPr>
              <p:grpSpPr>
                <a:xfrm>
                  <a:off x="12411334" y="6131087"/>
                  <a:ext cx="8133832" cy="3175579"/>
                  <a:chOff x="10530532" y="4749801"/>
                  <a:chExt cx="11114902" cy="4683228"/>
                </a:xfrm>
              </p:grpSpPr>
              <p:pic>
                <p:nvPicPr>
                  <p:cNvPr id="89" name="Graphic 88" descr="Gyrotheodolite with solid fill">
                    <a:extLst>
                      <a:ext uri="{FF2B5EF4-FFF2-40B4-BE49-F238E27FC236}">
                        <a16:creationId xmlns:a16="http://schemas.microsoft.com/office/drawing/2014/main" id="{53BAD4F0-5741-A75D-E46C-87A6FC9F385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530532" y="6800026"/>
                    <a:ext cx="2633003" cy="2633003"/>
                  </a:xfrm>
                  <a:prstGeom prst="rect">
                    <a:avLst/>
                  </a:prstGeom>
                </p:spPr>
              </p:pic>
              <p:pic>
                <p:nvPicPr>
                  <p:cNvPr id="90" name="Graphic 89" descr="Windy with solid fill">
                    <a:extLst>
                      <a:ext uri="{FF2B5EF4-FFF2-40B4-BE49-F238E27FC236}">
                        <a16:creationId xmlns:a16="http://schemas.microsoft.com/office/drawing/2014/main" id="{CED65A87-01E7-DB4B-17A5-0F5A486C4F58}"/>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5237328" y="6363452"/>
                    <a:ext cx="1461816" cy="1461817"/>
                  </a:xfrm>
                  <a:prstGeom prst="rect">
                    <a:avLst/>
                  </a:prstGeom>
                </p:spPr>
              </p:pic>
              <p:grpSp>
                <p:nvGrpSpPr>
                  <p:cNvPr id="91" name="Group 90">
                    <a:extLst>
                      <a:ext uri="{FF2B5EF4-FFF2-40B4-BE49-F238E27FC236}">
                        <a16:creationId xmlns:a16="http://schemas.microsoft.com/office/drawing/2014/main" id="{0DB9788B-565C-94CB-E1FD-AA789A603C46}"/>
                      </a:ext>
                    </a:extLst>
                  </p:cNvPr>
                  <p:cNvGrpSpPr/>
                  <p:nvPr/>
                </p:nvGrpSpPr>
                <p:grpSpPr>
                  <a:xfrm>
                    <a:off x="18125400" y="4749801"/>
                    <a:ext cx="3520034" cy="4415942"/>
                    <a:chOff x="19119713" y="6709290"/>
                    <a:chExt cx="3869691" cy="4572627"/>
                  </a:xfrm>
                </p:grpSpPr>
                <p:cxnSp>
                  <p:nvCxnSpPr>
                    <p:cNvPr id="94" name="Straight Connector 93">
                      <a:extLst>
                        <a:ext uri="{FF2B5EF4-FFF2-40B4-BE49-F238E27FC236}">
                          <a16:creationId xmlns:a16="http://schemas.microsoft.com/office/drawing/2014/main" id="{7E312CEC-6495-8819-6DA7-7EFD2C33C2B7}"/>
                        </a:ext>
                      </a:extLst>
                    </p:cNvPr>
                    <p:cNvCxnSpPr>
                      <a:stCxn id="96" idx="2"/>
                      <a:endCxn id="96" idx="0"/>
                    </p:cNvCxnSpPr>
                    <p:nvPr/>
                  </p:nvCxnSpPr>
                  <p:spPr>
                    <a:xfrm>
                      <a:off x="19119713" y="8995604"/>
                      <a:ext cx="3869690" cy="0"/>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grpSp>
                  <p:nvGrpSpPr>
                    <p:cNvPr id="95" name="Group 94">
                      <a:extLst>
                        <a:ext uri="{FF2B5EF4-FFF2-40B4-BE49-F238E27FC236}">
                          <a16:creationId xmlns:a16="http://schemas.microsoft.com/office/drawing/2014/main" id="{404B634D-C357-1006-FFD4-C6DCA38A1DBC}"/>
                        </a:ext>
                      </a:extLst>
                    </p:cNvPr>
                    <p:cNvGrpSpPr/>
                    <p:nvPr/>
                  </p:nvGrpSpPr>
                  <p:grpSpPr>
                    <a:xfrm>
                      <a:off x="19119713" y="6709290"/>
                      <a:ext cx="3869691" cy="4572627"/>
                      <a:chOff x="19119713" y="6709290"/>
                      <a:chExt cx="3869691" cy="4572627"/>
                    </a:xfrm>
                  </p:grpSpPr>
                  <p:sp>
                    <p:nvSpPr>
                      <p:cNvPr id="96" name="Flowchart: Manual Operation 95">
                        <a:extLst>
                          <a:ext uri="{FF2B5EF4-FFF2-40B4-BE49-F238E27FC236}">
                            <a16:creationId xmlns:a16="http://schemas.microsoft.com/office/drawing/2014/main" id="{138E0622-86B3-F417-680E-B8A2938FE49F}"/>
                          </a:ext>
                        </a:extLst>
                      </p:cNvPr>
                      <p:cNvSpPr/>
                      <p:nvPr/>
                    </p:nvSpPr>
                    <p:spPr>
                      <a:xfrm rot="5400000">
                        <a:off x="18768245" y="7060759"/>
                        <a:ext cx="4572627" cy="3869690"/>
                      </a:xfrm>
                      <a:prstGeom prst="flowChartManualOperation">
                        <a:avLst/>
                      </a:prstGeom>
                      <a:noFill/>
                      <a:ln w="857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9A58F2E9-6E8C-EC23-432E-DD3A8A1C217C}"/>
                          </a:ext>
                        </a:extLst>
                      </p:cNvPr>
                      <p:cNvCxnSpPr>
                        <a:stCxn id="96" idx="1"/>
                        <a:endCxn id="96" idx="3"/>
                      </p:cNvCxnSpPr>
                      <p:nvPr/>
                    </p:nvCxnSpPr>
                    <p:spPr>
                      <a:xfrm>
                        <a:off x="21054558" y="7166553"/>
                        <a:ext cx="0" cy="3658102"/>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4C356EFB-64A5-4C2A-A4AF-73EC66E50976}"/>
                          </a:ext>
                        </a:extLst>
                      </p:cNvPr>
                      <p:cNvCxnSpPr>
                        <a:cxnSpLocks/>
                      </p:cNvCxnSpPr>
                      <p:nvPr/>
                    </p:nvCxnSpPr>
                    <p:spPr>
                      <a:xfrm>
                        <a:off x="22002521" y="6941185"/>
                        <a:ext cx="0" cy="4126120"/>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4F781B90-D39C-37AA-41F6-B361CA369A4A}"/>
                          </a:ext>
                        </a:extLst>
                      </p:cNvPr>
                      <p:cNvCxnSpPr>
                        <a:cxnSpLocks/>
                      </p:cNvCxnSpPr>
                      <p:nvPr/>
                    </p:nvCxnSpPr>
                    <p:spPr>
                      <a:xfrm>
                        <a:off x="20206673" y="7368137"/>
                        <a:ext cx="0" cy="3240617"/>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a:extLst>
                          <a:ext uri="{FF2B5EF4-FFF2-40B4-BE49-F238E27FC236}">
                            <a16:creationId xmlns:a16="http://schemas.microsoft.com/office/drawing/2014/main" id="{A9F6DA40-C8DD-059C-15D3-FBD8DA41F495}"/>
                          </a:ext>
                        </a:extLst>
                      </p:cNvPr>
                      <p:cNvCxnSpPr>
                        <a:cxnSpLocks/>
                      </p:cNvCxnSpPr>
                      <p:nvPr/>
                    </p:nvCxnSpPr>
                    <p:spPr>
                      <a:xfrm>
                        <a:off x="20626446" y="7270362"/>
                        <a:ext cx="0" cy="3438433"/>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a:extLst>
                          <a:ext uri="{FF2B5EF4-FFF2-40B4-BE49-F238E27FC236}">
                            <a16:creationId xmlns:a16="http://schemas.microsoft.com/office/drawing/2014/main" id="{ACBA1B07-9BB2-08CD-F252-7529B468D28C}"/>
                          </a:ext>
                        </a:extLst>
                      </p:cNvPr>
                      <p:cNvCxnSpPr>
                        <a:cxnSpLocks/>
                      </p:cNvCxnSpPr>
                      <p:nvPr/>
                    </p:nvCxnSpPr>
                    <p:spPr>
                      <a:xfrm>
                        <a:off x="19770221" y="7463647"/>
                        <a:ext cx="0" cy="3057745"/>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2" name="Straight Connector 101">
                        <a:extLst>
                          <a:ext uri="{FF2B5EF4-FFF2-40B4-BE49-F238E27FC236}">
                            <a16:creationId xmlns:a16="http://schemas.microsoft.com/office/drawing/2014/main" id="{0F951961-ADC9-294D-1F95-0B28A4EDB60C}"/>
                          </a:ext>
                        </a:extLst>
                      </p:cNvPr>
                      <p:cNvCxnSpPr>
                        <a:cxnSpLocks/>
                      </p:cNvCxnSpPr>
                      <p:nvPr/>
                    </p:nvCxnSpPr>
                    <p:spPr>
                      <a:xfrm>
                        <a:off x="22475112" y="6838521"/>
                        <a:ext cx="0" cy="4344485"/>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a:extLst>
                          <a:ext uri="{FF2B5EF4-FFF2-40B4-BE49-F238E27FC236}">
                            <a16:creationId xmlns:a16="http://schemas.microsoft.com/office/drawing/2014/main" id="{02D0D8AB-9E71-754E-0864-6C3396076B7E}"/>
                          </a:ext>
                        </a:extLst>
                      </p:cNvPr>
                      <p:cNvCxnSpPr/>
                      <p:nvPr/>
                    </p:nvCxnSpPr>
                    <p:spPr>
                      <a:xfrm>
                        <a:off x="21532709" y="7065034"/>
                        <a:ext cx="0" cy="3891459"/>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Straight Connector 103">
                        <a:extLst>
                          <a:ext uri="{FF2B5EF4-FFF2-40B4-BE49-F238E27FC236}">
                            <a16:creationId xmlns:a16="http://schemas.microsoft.com/office/drawing/2014/main" id="{F48ACF6F-8771-8E0A-811C-900E59BF3B8C}"/>
                          </a:ext>
                        </a:extLst>
                      </p:cNvPr>
                      <p:cNvCxnSpPr/>
                      <p:nvPr/>
                    </p:nvCxnSpPr>
                    <p:spPr>
                      <a:xfrm flipV="1">
                        <a:off x="19119713" y="7819534"/>
                        <a:ext cx="3869690" cy="488877"/>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1BEDB899-14DA-7B4E-F898-025C94483627}"/>
                          </a:ext>
                        </a:extLst>
                      </p:cNvPr>
                      <p:cNvCxnSpPr/>
                      <p:nvPr/>
                    </p:nvCxnSpPr>
                    <p:spPr>
                      <a:xfrm>
                        <a:off x="19119713" y="9667235"/>
                        <a:ext cx="3869690" cy="528240"/>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945CF9F4-1336-0D60-195C-51751A7E0CAA}"/>
                          </a:ext>
                        </a:extLst>
                      </p:cNvPr>
                      <p:cNvCxnSpPr>
                        <a:cxnSpLocks/>
                      </p:cNvCxnSpPr>
                      <p:nvPr/>
                    </p:nvCxnSpPr>
                    <p:spPr>
                      <a:xfrm>
                        <a:off x="19403268" y="7563688"/>
                        <a:ext cx="0" cy="2881114"/>
                      </a:xfrm>
                      <a:prstGeom prst="lin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grpSp>
              </p:grpSp>
              <p:cxnSp>
                <p:nvCxnSpPr>
                  <p:cNvPr id="92" name="Straight Connector 91">
                    <a:extLst>
                      <a:ext uri="{FF2B5EF4-FFF2-40B4-BE49-F238E27FC236}">
                        <a16:creationId xmlns:a16="http://schemas.microsoft.com/office/drawing/2014/main" id="{B045A99D-F105-664C-9439-B49CEC7F88F8}"/>
                      </a:ext>
                    </a:extLst>
                  </p:cNvPr>
                  <p:cNvCxnSpPr>
                    <a:cxnSpLocks/>
                  </p:cNvCxnSpPr>
                  <p:nvPr/>
                </p:nvCxnSpPr>
                <p:spPr>
                  <a:xfrm flipH="1" flipV="1">
                    <a:off x="12171143" y="7596838"/>
                    <a:ext cx="9447784" cy="1598186"/>
                  </a:xfrm>
                  <a:prstGeom prst="line">
                    <a:avLst/>
                  </a:prstGeom>
                  <a:noFill/>
                  <a:ln w="635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7791BC35-40BC-A81E-CAFC-AB53B6BFEEAF}"/>
                      </a:ext>
                    </a:extLst>
                  </p:cNvPr>
                  <p:cNvCxnSpPr>
                    <a:cxnSpLocks/>
                  </p:cNvCxnSpPr>
                  <p:nvPr/>
                </p:nvCxnSpPr>
                <p:spPr>
                  <a:xfrm flipH="1">
                    <a:off x="12017713" y="5574922"/>
                    <a:ext cx="6365621" cy="1375937"/>
                  </a:xfrm>
                  <a:prstGeom prst="line">
                    <a:avLst/>
                  </a:prstGeom>
                  <a:noFill/>
                  <a:ln w="635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86" name="TextBox 85">
                  <a:extLst>
                    <a:ext uri="{FF2B5EF4-FFF2-40B4-BE49-F238E27FC236}">
                      <a16:creationId xmlns:a16="http://schemas.microsoft.com/office/drawing/2014/main" id="{AABA73D0-CE03-4E4B-202B-2EE11B95531E}"/>
                    </a:ext>
                  </a:extLst>
                </p:cNvPr>
                <p:cNvSpPr txBox="1"/>
                <p:nvPr/>
              </p:nvSpPr>
              <p:spPr>
                <a:xfrm>
                  <a:off x="12411334" y="9339889"/>
                  <a:ext cx="1926816" cy="1178952"/>
                </a:xfrm>
                <a:prstGeom prst="rect">
                  <a:avLst/>
                </a:prstGeom>
                <a:noFill/>
              </p:spPr>
              <p:txBody>
                <a:bodyPr wrap="square" rtlCol="0">
                  <a:spAutoFit/>
                </a:bodyPr>
                <a:lstStyle/>
                <a:p>
                  <a:pPr algn="ctr"/>
                  <a:r>
                    <a:rPr lang="en-US" sz="1600" dirty="0"/>
                    <a:t>rtVSLI System</a:t>
                  </a:r>
                </a:p>
              </p:txBody>
            </p:sp>
            <p:sp>
              <p:nvSpPr>
                <p:cNvPr id="87" name="TextBox 86">
                  <a:extLst>
                    <a:ext uri="{FF2B5EF4-FFF2-40B4-BE49-F238E27FC236}">
                      <a16:creationId xmlns:a16="http://schemas.microsoft.com/office/drawing/2014/main" id="{BECB2EA9-259B-64A8-9F72-A4BCA353F9D9}"/>
                    </a:ext>
                  </a:extLst>
                </p:cNvPr>
                <p:cNvSpPr txBox="1"/>
                <p:nvPr/>
              </p:nvSpPr>
              <p:spPr>
                <a:xfrm>
                  <a:off x="15131074" y="9339889"/>
                  <a:ext cx="2519092" cy="1136724"/>
                </a:xfrm>
                <a:prstGeom prst="rect">
                  <a:avLst/>
                </a:prstGeom>
                <a:noFill/>
              </p:spPr>
              <p:txBody>
                <a:bodyPr wrap="square" rtlCol="0">
                  <a:spAutoFit/>
                </a:bodyPr>
                <a:lstStyle/>
                <a:p>
                  <a:pPr algn="ctr"/>
                  <a:r>
                    <a:rPr lang="en-US" sz="1600" dirty="0"/>
                    <a:t>Air Density Gradient</a:t>
                  </a:r>
                </a:p>
              </p:txBody>
            </p:sp>
            <p:sp>
              <p:nvSpPr>
                <p:cNvPr id="88" name="TextBox 87">
                  <a:extLst>
                    <a:ext uri="{FF2B5EF4-FFF2-40B4-BE49-F238E27FC236}">
                      <a16:creationId xmlns:a16="http://schemas.microsoft.com/office/drawing/2014/main" id="{B2A0A1B4-C384-8828-8186-77671A20A8B3}"/>
                    </a:ext>
                  </a:extLst>
                </p:cNvPr>
                <p:cNvSpPr txBox="1"/>
                <p:nvPr/>
              </p:nvSpPr>
              <p:spPr>
                <a:xfrm>
                  <a:off x="17997647" y="9339889"/>
                  <a:ext cx="2519092" cy="1615346"/>
                </a:xfrm>
                <a:prstGeom prst="rect">
                  <a:avLst/>
                </a:prstGeom>
                <a:noFill/>
              </p:spPr>
              <p:txBody>
                <a:bodyPr wrap="square" rtlCol="0">
                  <a:spAutoFit/>
                </a:bodyPr>
                <a:lstStyle/>
                <a:p>
                  <a:pPr algn="ctr"/>
                  <a:r>
                    <a:rPr lang="en-US" sz="1600" dirty="0"/>
                    <a:t>Projected Structured Laser Grid</a:t>
                  </a:r>
                </a:p>
              </p:txBody>
            </p:sp>
          </p:grpSp>
          <p:cxnSp>
            <p:nvCxnSpPr>
              <p:cNvPr id="84" name="Straight Arrow Connector 83">
                <a:extLst>
                  <a:ext uri="{FF2B5EF4-FFF2-40B4-BE49-F238E27FC236}">
                    <a16:creationId xmlns:a16="http://schemas.microsoft.com/office/drawing/2014/main" id="{B3EFDBD6-B9F3-84F6-B681-53298D834A12}"/>
                  </a:ext>
                </a:extLst>
              </p:cNvPr>
              <p:cNvCxnSpPr>
                <a:stCxn id="87" idx="0"/>
                <a:endCxn id="90" idx="2"/>
              </p:cNvCxnSpPr>
              <p:nvPr/>
            </p:nvCxnSpPr>
            <p:spPr>
              <a:xfrm flipV="1">
                <a:off x="16390619" y="8216485"/>
                <a:ext cx="0" cy="1123404"/>
              </a:xfrm>
              <a:prstGeom prst="straightConnector1">
                <a:avLst/>
              </a:prstGeom>
              <a:ln w="50800">
                <a:solidFill>
                  <a:srgbClr val="141414"/>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D7D21A9A-D4AF-2360-079E-9A97DED14FD1}"/>
                </a:ext>
              </a:extLst>
            </p:cNvPr>
            <p:cNvSpPr txBox="1"/>
            <p:nvPr/>
          </p:nvSpPr>
          <p:spPr>
            <a:xfrm>
              <a:off x="16897611" y="7222568"/>
              <a:ext cx="4306195" cy="734183"/>
            </a:xfrm>
            <a:prstGeom prst="rect">
              <a:avLst/>
            </a:prstGeom>
            <a:noFill/>
          </p:spPr>
          <p:txBody>
            <a:bodyPr wrap="square" rtlCol="0">
              <a:spAutoFit/>
            </a:bodyPr>
            <a:lstStyle/>
            <a:p>
              <a:pPr algn="ctr"/>
              <a:r>
                <a:rPr lang="en-US" sz="2000" b="1" dirty="0"/>
                <a:t>Potential infrared ~1000-1600nm</a:t>
              </a:r>
            </a:p>
            <a:p>
              <a:pPr algn="ctr"/>
              <a:r>
                <a:rPr lang="en-US" sz="2000" dirty="0"/>
                <a:t>(noise filtering)</a:t>
              </a:r>
            </a:p>
          </p:txBody>
        </p:sp>
        <p:sp>
          <p:nvSpPr>
            <p:cNvPr id="81" name="TextBox 80">
              <a:extLst>
                <a:ext uri="{FF2B5EF4-FFF2-40B4-BE49-F238E27FC236}">
                  <a16:creationId xmlns:a16="http://schemas.microsoft.com/office/drawing/2014/main" id="{22C71D09-9B8A-8144-1E77-DDC781B424D8}"/>
                </a:ext>
              </a:extLst>
            </p:cNvPr>
            <p:cNvSpPr txBox="1"/>
            <p:nvPr/>
          </p:nvSpPr>
          <p:spPr>
            <a:xfrm>
              <a:off x="11552545" y="7223410"/>
              <a:ext cx="3833864" cy="734183"/>
            </a:xfrm>
            <a:prstGeom prst="rect">
              <a:avLst/>
            </a:prstGeom>
            <a:noFill/>
          </p:spPr>
          <p:txBody>
            <a:bodyPr wrap="square" rtlCol="0">
              <a:spAutoFit/>
            </a:bodyPr>
            <a:lstStyle/>
            <a:p>
              <a:pPr algn="ctr"/>
              <a:r>
                <a:rPr lang="en-US" sz="2000" b="1" dirty="0"/>
                <a:t>Green ~520nm</a:t>
              </a:r>
            </a:p>
            <a:p>
              <a:pPr algn="ctr"/>
              <a:r>
                <a:rPr lang="en-US" sz="2000" dirty="0"/>
                <a:t>(high fidelity)</a:t>
              </a:r>
              <a:endParaRPr lang="en-US" sz="3200" dirty="0"/>
            </a:p>
          </p:txBody>
        </p:sp>
        <p:pic>
          <p:nvPicPr>
            <p:cNvPr id="82" name="Graphic 81" descr="Repeat with solid fill">
              <a:extLst>
                <a:ext uri="{FF2B5EF4-FFF2-40B4-BE49-F238E27FC236}">
                  <a16:creationId xmlns:a16="http://schemas.microsoft.com/office/drawing/2014/main" id="{660A1B97-4482-50D7-DB64-EB2F380E0B78}"/>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5983212" y="8234253"/>
              <a:ext cx="914400" cy="914400"/>
            </a:xfrm>
            <a:prstGeom prst="rect">
              <a:avLst/>
            </a:prstGeom>
          </p:spPr>
        </p:pic>
      </p:grpSp>
      <p:sp>
        <p:nvSpPr>
          <p:cNvPr id="131" name="TextBox 130">
            <a:extLst>
              <a:ext uri="{FF2B5EF4-FFF2-40B4-BE49-F238E27FC236}">
                <a16:creationId xmlns:a16="http://schemas.microsoft.com/office/drawing/2014/main" id="{0369E2D1-9BA0-42D5-76DC-D159B1BACB56}"/>
              </a:ext>
            </a:extLst>
          </p:cNvPr>
          <p:cNvSpPr txBox="1"/>
          <p:nvPr/>
        </p:nvSpPr>
        <p:spPr>
          <a:xfrm>
            <a:off x="11828014" y="15729386"/>
            <a:ext cx="8880928" cy="461665"/>
          </a:xfrm>
          <a:prstGeom prst="rect">
            <a:avLst/>
          </a:prstGeom>
          <a:noFill/>
        </p:spPr>
        <p:txBody>
          <a:bodyPr wrap="square" rtlCol="0">
            <a:spAutoFit/>
          </a:bodyPr>
          <a:lstStyle/>
          <a:p>
            <a:pPr algn="ctr"/>
            <a:r>
              <a:rPr lang="en-US" sz="2400" b="1" dirty="0"/>
              <a:t>Fast alternating image capture between green and infrared grid</a:t>
            </a:r>
          </a:p>
        </p:txBody>
      </p:sp>
      <p:pic>
        <p:nvPicPr>
          <p:cNvPr id="132" name="Picture 131">
            <a:extLst>
              <a:ext uri="{FF2B5EF4-FFF2-40B4-BE49-F238E27FC236}">
                <a16:creationId xmlns:a16="http://schemas.microsoft.com/office/drawing/2014/main" id="{89E3E8CB-739B-5005-1E9D-5835612F28FA}"/>
              </a:ext>
            </a:extLst>
          </p:cNvPr>
          <p:cNvPicPr>
            <a:picLocks noChangeAspect="1"/>
          </p:cNvPicPr>
          <p:nvPr/>
        </p:nvPicPr>
        <p:blipFill>
          <a:blip r:embed="rId35"/>
          <a:stretch>
            <a:fillRect/>
          </a:stretch>
        </p:blipFill>
        <p:spPr>
          <a:xfrm>
            <a:off x="11809744" y="22504428"/>
            <a:ext cx="1978184" cy="1695587"/>
          </a:xfrm>
          <a:prstGeom prst="rect">
            <a:avLst/>
          </a:prstGeom>
        </p:spPr>
      </p:pic>
      <p:pic>
        <p:nvPicPr>
          <p:cNvPr id="133" name="Picture 132">
            <a:extLst>
              <a:ext uri="{FF2B5EF4-FFF2-40B4-BE49-F238E27FC236}">
                <a16:creationId xmlns:a16="http://schemas.microsoft.com/office/drawing/2014/main" id="{3E93CE79-1630-7118-D5CA-0F932A591EF4}"/>
              </a:ext>
            </a:extLst>
          </p:cNvPr>
          <p:cNvPicPr>
            <a:picLocks noChangeAspect="1"/>
          </p:cNvPicPr>
          <p:nvPr/>
        </p:nvPicPr>
        <p:blipFill>
          <a:blip r:embed="rId35">
            <a:grayscl/>
          </a:blip>
          <a:stretch>
            <a:fillRect/>
          </a:stretch>
        </p:blipFill>
        <p:spPr>
          <a:xfrm>
            <a:off x="18562047" y="22530092"/>
            <a:ext cx="1928873" cy="1653320"/>
          </a:xfrm>
          <a:prstGeom prst="rect">
            <a:avLst/>
          </a:prstGeom>
        </p:spPr>
      </p:pic>
      <p:pic>
        <p:nvPicPr>
          <p:cNvPr id="134" name="Picture 133">
            <a:extLst>
              <a:ext uri="{FF2B5EF4-FFF2-40B4-BE49-F238E27FC236}">
                <a16:creationId xmlns:a16="http://schemas.microsoft.com/office/drawing/2014/main" id="{034D6F06-ADE2-B1E2-A6CC-AE050CC8B482}"/>
              </a:ext>
            </a:extLst>
          </p:cNvPr>
          <p:cNvPicPr>
            <a:picLocks noChangeAspect="1"/>
          </p:cNvPicPr>
          <p:nvPr/>
        </p:nvPicPr>
        <p:blipFill>
          <a:blip r:embed="rId36"/>
          <a:stretch>
            <a:fillRect/>
          </a:stretch>
        </p:blipFill>
        <p:spPr>
          <a:xfrm>
            <a:off x="14717817" y="25412705"/>
            <a:ext cx="3490342" cy="1506358"/>
          </a:xfrm>
          <a:prstGeom prst="rect">
            <a:avLst/>
          </a:prstGeom>
        </p:spPr>
      </p:pic>
      <p:grpSp>
        <p:nvGrpSpPr>
          <p:cNvPr id="135" name="Group 134">
            <a:extLst>
              <a:ext uri="{FF2B5EF4-FFF2-40B4-BE49-F238E27FC236}">
                <a16:creationId xmlns:a16="http://schemas.microsoft.com/office/drawing/2014/main" id="{1AA7509C-9821-9070-3550-06EC44DC82B8}"/>
              </a:ext>
            </a:extLst>
          </p:cNvPr>
          <p:cNvGrpSpPr/>
          <p:nvPr/>
        </p:nvGrpSpPr>
        <p:grpSpPr>
          <a:xfrm>
            <a:off x="11794513" y="17207856"/>
            <a:ext cx="3906728" cy="1534935"/>
            <a:chOff x="11292772" y="9927625"/>
            <a:chExt cx="4102152" cy="1591957"/>
          </a:xfrm>
        </p:grpSpPr>
        <p:pic>
          <p:nvPicPr>
            <p:cNvPr id="136" name="Picture 135">
              <a:extLst>
                <a:ext uri="{FF2B5EF4-FFF2-40B4-BE49-F238E27FC236}">
                  <a16:creationId xmlns:a16="http://schemas.microsoft.com/office/drawing/2014/main" id="{0733FFCE-9CC3-0E81-A150-24402B478A48}"/>
                </a:ext>
              </a:extLst>
            </p:cNvPr>
            <p:cNvPicPr>
              <a:picLocks noChangeAspect="1"/>
            </p:cNvPicPr>
            <p:nvPr/>
          </p:nvPicPr>
          <p:blipFill>
            <a:blip r:embed="rId37"/>
            <a:stretch>
              <a:fillRect/>
            </a:stretch>
          </p:blipFill>
          <p:spPr>
            <a:xfrm>
              <a:off x="11292772" y="9927625"/>
              <a:ext cx="1722299" cy="1583404"/>
            </a:xfrm>
            <a:prstGeom prst="rect">
              <a:avLst/>
            </a:prstGeom>
          </p:spPr>
        </p:pic>
        <p:pic>
          <p:nvPicPr>
            <p:cNvPr id="137" name="Picture 136">
              <a:extLst>
                <a:ext uri="{FF2B5EF4-FFF2-40B4-BE49-F238E27FC236}">
                  <a16:creationId xmlns:a16="http://schemas.microsoft.com/office/drawing/2014/main" id="{13A018DE-1A12-ECBF-0431-D933DCC031F2}"/>
                </a:ext>
              </a:extLst>
            </p:cNvPr>
            <p:cNvPicPr>
              <a:picLocks noChangeAspect="1"/>
            </p:cNvPicPr>
            <p:nvPr/>
          </p:nvPicPr>
          <p:blipFill>
            <a:blip r:embed="rId38"/>
            <a:stretch>
              <a:fillRect/>
            </a:stretch>
          </p:blipFill>
          <p:spPr>
            <a:xfrm>
              <a:off x="13672625" y="9955734"/>
              <a:ext cx="1722299" cy="1563848"/>
            </a:xfrm>
            <a:prstGeom prst="rect">
              <a:avLst/>
            </a:prstGeom>
          </p:spPr>
        </p:pic>
      </p:grpSp>
      <p:grpSp>
        <p:nvGrpSpPr>
          <p:cNvPr id="138" name="Group 137">
            <a:extLst>
              <a:ext uri="{FF2B5EF4-FFF2-40B4-BE49-F238E27FC236}">
                <a16:creationId xmlns:a16="http://schemas.microsoft.com/office/drawing/2014/main" id="{A2E49B88-5E1A-E618-53BA-27043E71BC5B}"/>
              </a:ext>
            </a:extLst>
          </p:cNvPr>
          <p:cNvGrpSpPr/>
          <p:nvPr/>
        </p:nvGrpSpPr>
        <p:grpSpPr>
          <a:xfrm>
            <a:off x="16724054" y="17175725"/>
            <a:ext cx="3906728" cy="1534935"/>
            <a:chOff x="11292772" y="9927625"/>
            <a:chExt cx="4102152" cy="1591957"/>
          </a:xfrm>
        </p:grpSpPr>
        <p:pic>
          <p:nvPicPr>
            <p:cNvPr id="139" name="Picture 138">
              <a:extLst>
                <a:ext uri="{FF2B5EF4-FFF2-40B4-BE49-F238E27FC236}">
                  <a16:creationId xmlns:a16="http://schemas.microsoft.com/office/drawing/2014/main" id="{2813310E-6941-BE85-EE3F-F34163E1F69B}"/>
                </a:ext>
              </a:extLst>
            </p:cNvPr>
            <p:cNvPicPr>
              <a:picLocks noChangeAspect="1"/>
            </p:cNvPicPr>
            <p:nvPr/>
          </p:nvPicPr>
          <p:blipFill>
            <a:blip r:embed="rId37">
              <a:grayscl/>
            </a:blip>
            <a:stretch>
              <a:fillRect/>
            </a:stretch>
          </p:blipFill>
          <p:spPr>
            <a:xfrm>
              <a:off x="11292772" y="9927625"/>
              <a:ext cx="1722299" cy="1583404"/>
            </a:xfrm>
            <a:prstGeom prst="rect">
              <a:avLst/>
            </a:prstGeom>
          </p:spPr>
        </p:pic>
        <p:pic>
          <p:nvPicPr>
            <p:cNvPr id="140" name="Picture 139">
              <a:extLst>
                <a:ext uri="{FF2B5EF4-FFF2-40B4-BE49-F238E27FC236}">
                  <a16:creationId xmlns:a16="http://schemas.microsoft.com/office/drawing/2014/main" id="{C6D30652-A986-A2A0-DDB7-355E1E87EF4E}"/>
                </a:ext>
              </a:extLst>
            </p:cNvPr>
            <p:cNvPicPr>
              <a:picLocks noChangeAspect="1"/>
            </p:cNvPicPr>
            <p:nvPr/>
          </p:nvPicPr>
          <p:blipFill>
            <a:blip r:embed="rId38">
              <a:grayscl/>
            </a:blip>
            <a:stretch>
              <a:fillRect/>
            </a:stretch>
          </p:blipFill>
          <p:spPr>
            <a:xfrm>
              <a:off x="13672625" y="9955734"/>
              <a:ext cx="1722299" cy="1563848"/>
            </a:xfrm>
            <a:prstGeom prst="rect">
              <a:avLst/>
            </a:prstGeom>
          </p:spPr>
        </p:pic>
      </p:grpSp>
      <p:sp>
        <p:nvSpPr>
          <p:cNvPr id="141" name="TextBox 140">
            <a:extLst>
              <a:ext uri="{FF2B5EF4-FFF2-40B4-BE49-F238E27FC236}">
                <a16:creationId xmlns:a16="http://schemas.microsoft.com/office/drawing/2014/main" id="{BA2BA55B-531B-7F0A-7A15-E2E484EDCAED}"/>
              </a:ext>
            </a:extLst>
          </p:cNvPr>
          <p:cNvSpPr txBox="1"/>
          <p:nvPr/>
        </p:nvSpPr>
        <p:spPr>
          <a:xfrm>
            <a:off x="12392819" y="11890389"/>
            <a:ext cx="7336573" cy="1015663"/>
          </a:xfrm>
          <a:prstGeom prst="rect">
            <a:avLst/>
          </a:prstGeom>
          <a:noFill/>
        </p:spPr>
        <p:txBody>
          <a:bodyPr wrap="square" rtlCol="0">
            <a:spAutoFit/>
          </a:bodyPr>
          <a:lstStyle/>
          <a:p>
            <a:pPr algn="ctr"/>
            <a:r>
              <a:rPr lang="en-US" sz="3800" b="1" dirty="0"/>
              <a:t>On-Device Processing</a:t>
            </a:r>
          </a:p>
          <a:p>
            <a:pPr algn="ctr"/>
            <a:r>
              <a:rPr lang="en-US" sz="2000" i="1" dirty="0"/>
              <a:t>(current stage)</a:t>
            </a:r>
          </a:p>
        </p:txBody>
      </p:sp>
      <p:sp>
        <p:nvSpPr>
          <p:cNvPr id="142" name="TextBox 141">
            <a:extLst>
              <a:ext uri="{FF2B5EF4-FFF2-40B4-BE49-F238E27FC236}">
                <a16:creationId xmlns:a16="http://schemas.microsoft.com/office/drawing/2014/main" id="{5A196FBD-48A8-980B-7969-823BABCFD0A4}"/>
              </a:ext>
            </a:extLst>
          </p:cNvPr>
          <p:cNvSpPr txBox="1"/>
          <p:nvPr/>
        </p:nvSpPr>
        <p:spPr>
          <a:xfrm>
            <a:off x="12542561" y="20936412"/>
            <a:ext cx="7336573" cy="1015663"/>
          </a:xfrm>
          <a:prstGeom prst="rect">
            <a:avLst/>
          </a:prstGeom>
          <a:noFill/>
        </p:spPr>
        <p:txBody>
          <a:bodyPr wrap="square" rtlCol="0">
            <a:spAutoFit/>
          </a:bodyPr>
          <a:lstStyle/>
          <a:p>
            <a:pPr algn="ctr"/>
            <a:r>
              <a:rPr lang="en-US" sz="3800" b="1" dirty="0"/>
              <a:t>On-Host Processing</a:t>
            </a:r>
          </a:p>
          <a:p>
            <a:pPr algn="ctr"/>
            <a:r>
              <a:rPr lang="en-US" sz="2000" i="1" dirty="0"/>
              <a:t>(future stage)</a:t>
            </a:r>
          </a:p>
        </p:txBody>
      </p:sp>
      <p:cxnSp>
        <p:nvCxnSpPr>
          <p:cNvPr id="143" name="Connector: Elbow 142">
            <a:extLst>
              <a:ext uri="{FF2B5EF4-FFF2-40B4-BE49-F238E27FC236}">
                <a16:creationId xmlns:a16="http://schemas.microsoft.com/office/drawing/2014/main" id="{E1BED145-DBE9-F70B-2921-41D9D2AB3A41}"/>
              </a:ext>
            </a:extLst>
          </p:cNvPr>
          <p:cNvCxnSpPr>
            <a:cxnSpLocks/>
            <a:stCxn id="137" idx="2"/>
            <a:endCxn id="132" idx="0"/>
          </p:cNvCxnSpPr>
          <p:nvPr/>
        </p:nvCxnSpPr>
        <p:spPr>
          <a:xfrm rot="5400000">
            <a:off x="11959158" y="19582469"/>
            <a:ext cx="3761637" cy="208228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7C0CC49E-6C20-D283-293F-52192A82FA43}"/>
              </a:ext>
            </a:extLst>
          </p:cNvPr>
          <p:cNvCxnSpPr>
            <a:cxnSpLocks/>
            <a:stCxn id="136" idx="2"/>
            <a:endCxn id="132" idx="0"/>
          </p:cNvCxnSpPr>
          <p:nvPr/>
        </p:nvCxnSpPr>
        <p:spPr>
          <a:xfrm rot="16200000" flipH="1">
            <a:off x="10821795" y="20527387"/>
            <a:ext cx="3769884" cy="18419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24541882-979D-848E-5C47-F10F10A502D5}"/>
              </a:ext>
            </a:extLst>
          </p:cNvPr>
          <p:cNvCxnSpPr>
            <a:stCxn id="139" idx="2"/>
            <a:endCxn id="133" idx="0"/>
          </p:cNvCxnSpPr>
          <p:nvPr/>
        </p:nvCxnSpPr>
        <p:spPr>
          <a:xfrm rot="16200000" flipH="1">
            <a:off x="16621492" y="19625099"/>
            <a:ext cx="3827679" cy="1982305"/>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52AFE7B0-AEA0-8AB4-8DDE-5653D312E9EA}"/>
              </a:ext>
            </a:extLst>
          </p:cNvPr>
          <p:cNvCxnSpPr>
            <a:stCxn id="140" idx="2"/>
            <a:endCxn id="133" idx="0"/>
          </p:cNvCxnSpPr>
          <p:nvPr/>
        </p:nvCxnSpPr>
        <p:spPr>
          <a:xfrm rot="5400000">
            <a:off x="17758855" y="20478290"/>
            <a:ext cx="3819432" cy="284173"/>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7" name="Picture 146">
            <a:extLst>
              <a:ext uri="{FF2B5EF4-FFF2-40B4-BE49-F238E27FC236}">
                <a16:creationId xmlns:a16="http://schemas.microsoft.com/office/drawing/2014/main" id="{8F2FDEF3-0A50-95E7-47AF-2092DD9242FF}"/>
              </a:ext>
            </a:extLst>
          </p:cNvPr>
          <p:cNvPicPr>
            <a:picLocks noChangeAspect="1"/>
          </p:cNvPicPr>
          <p:nvPr/>
        </p:nvPicPr>
        <p:blipFill>
          <a:blip r:embed="rId39"/>
          <a:stretch>
            <a:fillRect/>
          </a:stretch>
        </p:blipFill>
        <p:spPr>
          <a:xfrm>
            <a:off x="11737880" y="25318289"/>
            <a:ext cx="1679011" cy="1706994"/>
          </a:xfrm>
          <a:prstGeom prst="rect">
            <a:avLst/>
          </a:prstGeom>
        </p:spPr>
      </p:pic>
      <p:cxnSp>
        <p:nvCxnSpPr>
          <p:cNvPr id="148" name="Straight Arrow Connector 147">
            <a:extLst>
              <a:ext uri="{FF2B5EF4-FFF2-40B4-BE49-F238E27FC236}">
                <a16:creationId xmlns:a16="http://schemas.microsoft.com/office/drawing/2014/main" id="{A33B36AB-E87C-E617-90FA-18116584B557}"/>
              </a:ext>
            </a:extLst>
          </p:cNvPr>
          <p:cNvCxnSpPr>
            <a:cxnSpLocks/>
            <a:stCxn id="132" idx="3"/>
            <a:endCxn id="157" idx="1"/>
          </p:cNvCxnSpPr>
          <p:nvPr/>
        </p:nvCxnSpPr>
        <p:spPr>
          <a:xfrm>
            <a:off x="13787928" y="23352222"/>
            <a:ext cx="1003421" cy="140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05654B2E-9280-EE07-1DC7-20D31DC9E39F}"/>
              </a:ext>
            </a:extLst>
          </p:cNvPr>
          <p:cNvCxnSpPr>
            <a:cxnSpLocks/>
            <a:stCxn id="133" idx="1"/>
            <a:endCxn id="157" idx="3"/>
          </p:cNvCxnSpPr>
          <p:nvPr/>
        </p:nvCxnSpPr>
        <p:spPr>
          <a:xfrm flipH="1">
            <a:off x="17330863" y="23356752"/>
            <a:ext cx="1231184" cy="9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2CA831F1-910C-E7AC-BD92-1A779DBF94F4}"/>
              </a:ext>
            </a:extLst>
          </p:cNvPr>
          <p:cNvSpPr txBox="1"/>
          <p:nvPr/>
        </p:nvSpPr>
        <p:spPr>
          <a:xfrm>
            <a:off x="11806842" y="27002833"/>
            <a:ext cx="1983987" cy="707886"/>
          </a:xfrm>
          <a:prstGeom prst="rect">
            <a:avLst/>
          </a:prstGeom>
          <a:noFill/>
        </p:spPr>
        <p:txBody>
          <a:bodyPr wrap="square" rtlCol="0">
            <a:spAutoFit/>
          </a:bodyPr>
          <a:lstStyle/>
          <a:p>
            <a:pPr algn="ctr"/>
            <a:r>
              <a:rPr lang="en-US" sz="2000" dirty="0"/>
              <a:t>2D density slice stitching</a:t>
            </a:r>
          </a:p>
        </p:txBody>
      </p:sp>
      <p:grpSp>
        <p:nvGrpSpPr>
          <p:cNvPr id="151" name="Group 150">
            <a:extLst>
              <a:ext uri="{FF2B5EF4-FFF2-40B4-BE49-F238E27FC236}">
                <a16:creationId xmlns:a16="http://schemas.microsoft.com/office/drawing/2014/main" id="{A69ACB2E-97C1-0F7F-84AE-9CA2C69D4DDA}"/>
              </a:ext>
            </a:extLst>
          </p:cNvPr>
          <p:cNvGrpSpPr/>
          <p:nvPr/>
        </p:nvGrpSpPr>
        <p:grpSpPr>
          <a:xfrm>
            <a:off x="17432682" y="16331046"/>
            <a:ext cx="2278133" cy="1046465"/>
            <a:chOff x="12575186" y="9478386"/>
            <a:chExt cx="2392091" cy="1085340"/>
          </a:xfrm>
        </p:grpSpPr>
        <p:cxnSp>
          <p:nvCxnSpPr>
            <p:cNvPr id="152" name="Straight Arrow Connector 151">
              <a:extLst>
                <a:ext uri="{FF2B5EF4-FFF2-40B4-BE49-F238E27FC236}">
                  <a16:creationId xmlns:a16="http://schemas.microsoft.com/office/drawing/2014/main" id="{07AB4D1F-08F9-35AD-36DF-2507E883A583}"/>
                </a:ext>
              </a:extLst>
            </p:cNvPr>
            <p:cNvCxnSpPr>
              <a:cxnSpLocks/>
            </p:cNvCxnSpPr>
            <p:nvPr/>
          </p:nvCxnSpPr>
          <p:spPr>
            <a:xfrm>
              <a:off x="13822761" y="9478386"/>
              <a:ext cx="0" cy="10853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17B13356-B40A-2B44-EFF5-B5ECF9E40FCD}"/>
                </a:ext>
              </a:extLst>
            </p:cNvPr>
            <p:cNvSpPr txBox="1"/>
            <p:nvPr/>
          </p:nvSpPr>
          <p:spPr>
            <a:xfrm>
              <a:off x="12575186" y="9721349"/>
              <a:ext cx="2392091" cy="338554"/>
            </a:xfrm>
            <a:prstGeom prst="rect">
              <a:avLst/>
            </a:prstGeom>
            <a:solidFill>
              <a:schemeClr val="bg1"/>
            </a:solidFill>
          </p:spPr>
          <p:txBody>
            <a:bodyPr wrap="square" rtlCol="0">
              <a:spAutoFit/>
            </a:bodyPr>
            <a:lstStyle/>
            <a:p>
              <a:pPr algn="ctr"/>
              <a:r>
                <a:rPr lang="en-US" sz="1600" dirty="0"/>
                <a:t>Preprocessing</a:t>
              </a:r>
            </a:p>
          </p:txBody>
        </p:sp>
      </p:grpSp>
      <p:grpSp>
        <p:nvGrpSpPr>
          <p:cNvPr id="154" name="Group 153">
            <a:extLst>
              <a:ext uri="{FF2B5EF4-FFF2-40B4-BE49-F238E27FC236}">
                <a16:creationId xmlns:a16="http://schemas.microsoft.com/office/drawing/2014/main" id="{EEF23A38-BBBA-1F15-4964-74E10B818BE0}"/>
              </a:ext>
            </a:extLst>
          </p:cNvPr>
          <p:cNvGrpSpPr/>
          <p:nvPr/>
        </p:nvGrpSpPr>
        <p:grpSpPr>
          <a:xfrm>
            <a:off x="12524340" y="16356921"/>
            <a:ext cx="2278133" cy="1046465"/>
            <a:chOff x="12575186" y="9478386"/>
            <a:chExt cx="2392091" cy="1085340"/>
          </a:xfrm>
        </p:grpSpPr>
        <p:cxnSp>
          <p:nvCxnSpPr>
            <p:cNvPr id="155" name="Straight Arrow Connector 154">
              <a:extLst>
                <a:ext uri="{FF2B5EF4-FFF2-40B4-BE49-F238E27FC236}">
                  <a16:creationId xmlns:a16="http://schemas.microsoft.com/office/drawing/2014/main" id="{58D0CACA-F668-2F44-3609-6154F7594A56}"/>
                </a:ext>
              </a:extLst>
            </p:cNvPr>
            <p:cNvCxnSpPr>
              <a:cxnSpLocks/>
            </p:cNvCxnSpPr>
            <p:nvPr/>
          </p:nvCxnSpPr>
          <p:spPr>
            <a:xfrm>
              <a:off x="13822761" y="9478386"/>
              <a:ext cx="0" cy="10853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0651FE97-E31D-B0D2-9AFD-7B1D6C435CAD}"/>
                </a:ext>
              </a:extLst>
            </p:cNvPr>
            <p:cNvSpPr txBox="1"/>
            <p:nvPr/>
          </p:nvSpPr>
          <p:spPr>
            <a:xfrm>
              <a:off x="12575186" y="9721349"/>
              <a:ext cx="2392091" cy="338554"/>
            </a:xfrm>
            <a:prstGeom prst="rect">
              <a:avLst/>
            </a:prstGeom>
            <a:solidFill>
              <a:schemeClr val="bg1"/>
            </a:solidFill>
          </p:spPr>
          <p:txBody>
            <a:bodyPr wrap="square" rtlCol="0">
              <a:spAutoFit/>
            </a:bodyPr>
            <a:lstStyle/>
            <a:p>
              <a:pPr algn="ctr"/>
              <a:r>
                <a:rPr lang="en-US" sz="1600" dirty="0"/>
                <a:t>Preprocessing</a:t>
              </a:r>
            </a:p>
          </p:txBody>
        </p:sp>
      </p:grpSp>
      <p:sp>
        <p:nvSpPr>
          <p:cNvPr id="157" name="TextBox 156">
            <a:extLst>
              <a:ext uri="{FF2B5EF4-FFF2-40B4-BE49-F238E27FC236}">
                <a16:creationId xmlns:a16="http://schemas.microsoft.com/office/drawing/2014/main" id="{71741288-0D0C-4BD8-309D-2714279DCED3}"/>
              </a:ext>
            </a:extLst>
          </p:cNvPr>
          <p:cNvSpPr txBox="1"/>
          <p:nvPr/>
        </p:nvSpPr>
        <p:spPr>
          <a:xfrm>
            <a:off x="14791349" y="22804436"/>
            <a:ext cx="2539514" cy="1123712"/>
          </a:xfrm>
          <a:prstGeom prst="roundRect">
            <a:avLst/>
          </a:prstGeom>
          <a:solidFill>
            <a:schemeClr val="bg2"/>
          </a:solidFill>
          <a:ln w="38100">
            <a:solidFill>
              <a:srgbClr val="141414"/>
            </a:solidFill>
          </a:ln>
        </p:spPr>
        <p:txBody>
          <a:bodyPr wrap="square" rtlCol="0">
            <a:spAutoFit/>
          </a:bodyPr>
          <a:lstStyle/>
          <a:p>
            <a:pPr algn="ctr"/>
            <a:r>
              <a:rPr lang="en-US" sz="2000" b="1" dirty="0"/>
              <a:t>Integration into cross-referenced single image</a:t>
            </a:r>
          </a:p>
        </p:txBody>
      </p:sp>
      <p:sp>
        <p:nvSpPr>
          <p:cNvPr id="158" name="TextBox 157">
            <a:extLst>
              <a:ext uri="{FF2B5EF4-FFF2-40B4-BE49-F238E27FC236}">
                <a16:creationId xmlns:a16="http://schemas.microsoft.com/office/drawing/2014/main" id="{A02125D4-07C1-FE27-87E4-53FDD089EEE5}"/>
              </a:ext>
            </a:extLst>
          </p:cNvPr>
          <p:cNvSpPr txBox="1"/>
          <p:nvPr/>
        </p:nvSpPr>
        <p:spPr>
          <a:xfrm>
            <a:off x="11803635" y="24134686"/>
            <a:ext cx="2325752" cy="400110"/>
          </a:xfrm>
          <a:prstGeom prst="rect">
            <a:avLst/>
          </a:prstGeom>
          <a:noFill/>
        </p:spPr>
        <p:txBody>
          <a:bodyPr wrap="square" rtlCol="0">
            <a:spAutoFit/>
          </a:bodyPr>
          <a:lstStyle/>
          <a:p>
            <a:pPr algn="ctr"/>
            <a:r>
              <a:rPr lang="en-US" sz="2000" dirty="0"/>
              <a:t>Density integration</a:t>
            </a:r>
          </a:p>
        </p:txBody>
      </p:sp>
      <p:cxnSp>
        <p:nvCxnSpPr>
          <p:cNvPr id="159" name="Connector: Elbow 158">
            <a:extLst>
              <a:ext uri="{FF2B5EF4-FFF2-40B4-BE49-F238E27FC236}">
                <a16:creationId xmlns:a16="http://schemas.microsoft.com/office/drawing/2014/main" id="{5E15B870-3779-860C-9282-E21564A7C9CF}"/>
              </a:ext>
            </a:extLst>
          </p:cNvPr>
          <p:cNvCxnSpPr>
            <a:cxnSpLocks/>
            <a:stCxn id="157" idx="2"/>
            <a:endCxn id="147" idx="0"/>
          </p:cNvCxnSpPr>
          <p:nvPr/>
        </p:nvCxnSpPr>
        <p:spPr>
          <a:xfrm rot="5400000">
            <a:off x="13624176" y="22881358"/>
            <a:ext cx="1390141" cy="34837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09DF9C97-090D-CFB5-EB92-25F93B7E490F}"/>
              </a:ext>
            </a:extLst>
          </p:cNvPr>
          <p:cNvSpPr txBox="1"/>
          <p:nvPr/>
        </p:nvSpPr>
        <p:spPr>
          <a:xfrm>
            <a:off x="18385949" y="24160512"/>
            <a:ext cx="2325752" cy="400110"/>
          </a:xfrm>
          <a:prstGeom prst="rect">
            <a:avLst/>
          </a:prstGeom>
          <a:noFill/>
        </p:spPr>
        <p:txBody>
          <a:bodyPr wrap="square" rtlCol="0">
            <a:spAutoFit/>
          </a:bodyPr>
          <a:lstStyle/>
          <a:p>
            <a:pPr algn="ctr"/>
            <a:r>
              <a:rPr lang="en-US" sz="2000" dirty="0"/>
              <a:t>Density integration</a:t>
            </a:r>
          </a:p>
        </p:txBody>
      </p:sp>
      <p:cxnSp>
        <p:nvCxnSpPr>
          <p:cNvPr id="161" name="Straight Arrow Connector 160">
            <a:extLst>
              <a:ext uri="{FF2B5EF4-FFF2-40B4-BE49-F238E27FC236}">
                <a16:creationId xmlns:a16="http://schemas.microsoft.com/office/drawing/2014/main" id="{56436263-E347-ABDF-DC1B-5BF07241762F}"/>
              </a:ext>
            </a:extLst>
          </p:cNvPr>
          <p:cNvCxnSpPr>
            <a:cxnSpLocks/>
            <a:stCxn id="147" idx="3"/>
            <a:endCxn id="134" idx="1"/>
          </p:cNvCxnSpPr>
          <p:nvPr/>
        </p:nvCxnSpPr>
        <p:spPr>
          <a:xfrm flipV="1">
            <a:off x="13416891" y="26165884"/>
            <a:ext cx="1300926" cy="59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0E7CE96C-6FE9-7FFE-A77B-210ECD667289}"/>
              </a:ext>
            </a:extLst>
          </p:cNvPr>
          <p:cNvSpPr txBox="1"/>
          <p:nvPr/>
        </p:nvSpPr>
        <p:spPr>
          <a:xfrm>
            <a:off x="12766855" y="25747486"/>
            <a:ext cx="2539514" cy="400110"/>
          </a:xfrm>
          <a:prstGeom prst="rect">
            <a:avLst/>
          </a:prstGeom>
          <a:noFill/>
        </p:spPr>
        <p:txBody>
          <a:bodyPr wrap="square" rtlCol="0">
            <a:spAutoFit/>
          </a:bodyPr>
          <a:lstStyle/>
          <a:p>
            <a:pPr algn="ctr"/>
            <a:r>
              <a:rPr lang="en-US" sz="2000" dirty="0"/>
              <a:t>Stacking</a:t>
            </a:r>
          </a:p>
        </p:txBody>
      </p:sp>
      <p:sp>
        <p:nvSpPr>
          <p:cNvPr id="163" name="TextBox 162">
            <a:extLst>
              <a:ext uri="{FF2B5EF4-FFF2-40B4-BE49-F238E27FC236}">
                <a16:creationId xmlns:a16="http://schemas.microsoft.com/office/drawing/2014/main" id="{EC20DF72-284A-BA75-2878-F4FDD2092ED6}"/>
              </a:ext>
            </a:extLst>
          </p:cNvPr>
          <p:cNvSpPr txBox="1"/>
          <p:nvPr/>
        </p:nvSpPr>
        <p:spPr>
          <a:xfrm>
            <a:off x="14675627" y="26885015"/>
            <a:ext cx="3447550" cy="400110"/>
          </a:xfrm>
          <a:prstGeom prst="rect">
            <a:avLst/>
          </a:prstGeom>
          <a:noFill/>
        </p:spPr>
        <p:txBody>
          <a:bodyPr wrap="square" rtlCol="0">
            <a:spAutoFit/>
          </a:bodyPr>
          <a:lstStyle/>
          <a:p>
            <a:pPr algn="ctr"/>
            <a:r>
              <a:rPr lang="en-US" sz="2000" dirty="0"/>
              <a:t>3D density field</a:t>
            </a:r>
          </a:p>
        </p:txBody>
      </p:sp>
      <p:sp>
        <p:nvSpPr>
          <p:cNvPr id="164" name="TextBox 163">
            <a:extLst>
              <a:ext uri="{FF2B5EF4-FFF2-40B4-BE49-F238E27FC236}">
                <a16:creationId xmlns:a16="http://schemas.microsoft.com/office/drawing/2014/main" id="{C1888F06-E751-54B4-1A3B-9A380BA43E70}"/>
              </a:ext>
            </a:extLst>
          </p:cNvPr>
          <p:cNvSpPr txBox="1"/>
          <p:nvPr/>
        </p:nvSpPr>
        <p:spPr>
          <a:xfrm>
            <a:off x="18798018" y="25616298"/>
            <a:ext cx="2162232" cy="1123712"/>
          </a:xfrm>
          <a:prstGeom prst="roundRect">
            <a:avLst/>
          </a:prstGeom>
          <a:solidFill>
            <a:schemeClr val="bg2"/>
          </a:solidFill>
          <a:ln w="38100">
            <a:solidFill>
              <a:srgbClr val="141414"/>
            </a:solidFill>
          </a:ln>
        </p:spPr>
        <p:txBody>
          <a:bodyPr wrap="square" rtlCol="0">
            <a:spAutoFit/>
          </a:bodyPr>
          <a:lstStyle/>
          <a:p>
            <a:pPr algn="ctr"/>
            <a:r>
              <a:rPr lang="en-US" sz="2000" b="1" dirty="0"/>
              <a:t>UI &amp; Visualization (3D Flow Maps)</a:t>
            </a:r>
          </a:p>
        </p:txBody>
      </p:sp>
      <p:cxnSp>
        <p:nvCxnSpPr>
          <p:cNvPr id="165" name="Straight Arrow Connector 164">
            <a:extLst>
              <a:ext uri="{FF2B5EF4-FFF2-40B4-BE49-F238E27FC236}">
                <a16:creationId xmlns:a16="http://schemas.microsoft.com/office/drawing/2014/main" id="{A4CCC488-BC19-D1A2-C8AC-811F4C8DF359}"/>
              </a:ext>
            </a:extLst>
          </p:cNvPr>
          <p:cNvCxnSpPr>
            <a:stCxn id="134" idx="3"/>
            <a:endCxn id="164" idx="1"/>
          </p:cNvCxnSpPr>
          <p:nvPr/>
        </p:nvCxnSpPr>
        <p:spPr>
          <a:xfrm>
            <a:off x="18208159" y="26165884"/>
            <a:ext cx="589859" cy="122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EE8A5B5A-1F58-5DBE-41DA-39CEBF2814FD}"/>
              </a:ext>
            </a:extLst>
          </p:cNvPr>
          <p:cNvSpPr txBox="1"/>
          <p:nvPr/>
        </p:nvSpPr>
        <p:spPr>
          <a:xfrm>
            <a:off x="11542759" y="7391400"/>
            <a:ext cx="9577839" cy="4503797"/>
          </a:xfrm>
          <a:prstGeom prst="rect">
            <a:avLst/>
          </a:prstGeom>
          <a:noFill/>
        </p:spPr>
        <p:txBody>
          <a:bodyPr wrap="square" rtlCol="0">
            <a:spAutoFit/>
          </a:bodyPr>
          <a:lstStyle/>
          <a:p>
            <a:pPr marL="342900" indent="-342900" algn="just" defTabSz="4036710">
              <a:spcBef>
                <a:spcPts val="800"/>
              </a:spcBef>
              <a:buClr>
                <a:schemeClr val="accent1"/>
              </a:buClr>
              <a:buFont typeface="Arial" panose="020B0604020202020204" pitchFamily="34" charset="0"/>
              <a:buChar char="•"/>
            </a:pPr>
            <a:r>
              <a:rPr lang="en-US" sz="2600" dirty="0"/>
              <a:t>Project a structured laser grid background onto the environment</a:t>
            </a:r>
          </a:p>
          <a:p>
            <a:pPr marL="342900" indent="-342900" algn="just" defTabSz="4036710">
              <a:spcBef>
                <a:spcPts val="800"/>
              </a:spcBef>
              <a:buClr>
                <a:schemeClr val="accent1"/>
              </a:buClr>
              <a:buFont typeface="Arial" panose="020B0604020202020204" pitchFamily="34" charset="0"/>
              <a:buChar char="•"/>
            </a:pPr>
            <a:r>
              <a:rPr lang="en-US" sz="2600" dirty="0"/>
              <a:t>From the same device, image distortions in background caused by air density gradients</a:t>
            </a:r>
          </a:p>
          <a:p>
            <a:pPr marL="342900" indent="-342900" algn="just" defTabSz="4036710">
              <a:spcBef>
                <a:spcPts val="800"/>
              </a:spcBef>
              <a:buClr>
                <a:schemeClr val="accent1"/>
              </a:buClr>
              <a:buFont typeface="Arial" panose="020B0604020202020204" pitchFamily="34" charset="0"/>
              <a:buChar char="•"/>
            </a:pPr>
            <a:r>
              <a:rPr lang="en-US" sz="2600" dirty="0"/>
              <a:t>Use of two wavelengths for high fidelity and noise control, if necessary </a:t>
            </a:r>
          </a:p>
          <a:p>
            <a:pPr marL="342900" indent="-342900" algn="just" defTabSz="4036710">
              <a:spcBef>
                <a:spcPts val="800"/>
              </a:spcBef>
              <a:buClr>
                <a:schemeClr val="accent1"/>
              </a:buClr>
              <a:buFont typeface="Arial" panose="020B0604020202020204" pitchFamily="34" charset="0"/>
              <a:buChar char="•"/>
            </a:pPr>
            <a:r>
              <a:rPr lang="en-US" sz="2600" dirty="0"/>
              <a:t>Controlled perturbations of projected background to separate the variable and establish a baseline</a:t>
            </a:r>
          </a:p>
          <a:p>
            <a:pPr marL="342900" indent="-342900" algn="just" defTabSz="4036710">
              <a:spcBef>
                <a:spcPts val="800"/>
              </a:spcBef>
              <a:buClr>
                <a:schemeClr val="accent1"/>
              </a:buClr>
              <a:buFont typeface="Arial" panose="020B0604020202020204" pitchFamily="34" charset="0"/>
              <a:buChar char="•"/>
            </a:pPr>
            <a:r>
              <a:rPr lang="en-US" sz="2600" dirty="0"/>
              <a:t>Cross reference output from both wavelengths for a synthesized differential measurement and visual.</a:t>
            </a:r>
          </a:p>
        </p:txBody>
      </p:sp>
      <p:pic>
        <p:nvPicPr>
          <p:cNvPr id="204" name="Picture 203">
            <a:extLst>
              <a:ext uri="{FF2B5EF4-FFF2-40B4-BE49-F238E27FC236}">
                <a16:creationId xmlns:a16="http://schemas.microsoft.com/office/drawing/2014/main" id="{8A95A45A-8187-481B-A258-AA4AEE8C5B42}"/>
              </a:ext>
            </a:extLst>
          </p:cNvPr>
          <p:cNvPicPr>
            <a:picLocks noChangeAspect="1"/>
          </p:cNvPicPr>
          <p:nvPr/>
        </p:nvPicPr>
        <p:blipFill>
          <a:blip r:embed="rId40"/>
          <a:stretch>
            <a:fillRect/>
          </a:stretch>
        </p:blipFill>
        <p:spPr>
          <a:xfrm>
            <a:off x="6167350" y="21696937"/>
            <a:ext cx="4543096" cy="6338053"/>
          </a:xfrm>
          <a:prstGeom prst="rect">
            <a:avLst/>
          </a:prstGeom>
        </p:spPr>
      </p:pic>
      <p:sp>
        <p:nvSpPr>
          <p:cNvPr id="209" name="TextBox 208">
            <a:extLst>
              <a:ext uri="{FF2B5EF4-FFF2-40B4-BE49-F238E27FC236}">
                <a16:creationId xmlns:a16="http://schemas.microsoft.com/office/drawing/2014/main" id="{50B1C4F6-B6E4-DA7A-9C72-E4020B524EFF}"/>
              </a:ext>
            </a:extLst>
          </p:cNvPr>
          <p:cNvSpPr txBox="1"/>
          <p:nvPr/>
        </p:nvSpPr>
        <p:spPr>
          <a:xfrm>
            <a:off x="6402121" y="28034990"/>
            <a:ext cx="4327025" cy="246221"/>
          </a:xfrm>
          <a:prstGeom prst="rect">
            <a:avLst/>
          </a:prstGeom>
          <a:noFill/>
        </p:spPr>
        <p:txBody>
          <a:bodyPr wrap="square" rtlCol="0">
            <a:spAutoFit/>
          </a:bodyPr>
          <a:lstStyle>
            <a:defPPr>
              <a:defRPr lang="en-US"/>
            </a:defPPr>
            <a:lvl1pPr>
              <a:defRPr sz="1000" b="1" i="1"/>
            </a:lvl1pPr>
          </a:lstStyle>
          <a:p>
            <a:pPr algn="ctr"/>
            <a:r>
              <a:rPr lang="en-US" dirty="0"/>
              <a:t>Figure 3: </a:t>
            </a:r>
            <a:r>
              <a:rPr lang="en-US" b="0" dirty="0"/>
              <a:t>rtVSLI Mk1 prototype </a:t>
            </a:r>
          </a:p>
        </p:txBody>
      </p:sp>
      <p:sp>
        <p:nvSpPr>
          <p:cNvPr id="218" name="TextBox 217">
            <a:extLst>
              <a:ext uri="{FF2B5EF4-FFF2-40B4-BE49-F238E27FC236}">
                <a16:creationId xmlns:a16="http://schemas.microsoft.com/office/drawing/2014/main" id="{D254D9B1-0F90-9671-7E2B-F57FBC3F1A2E}"/>
              </a:ext>
            </a:extLst>
          </p:cNvPr>
          <p:cNvSpPr txBox="1">
            <a:spLocks noGrp="1" noRot="1" noMove="1" noResize="1" noEditPoints="1" noAdjustHandles="1" noChangeArrowheads="1" noChangeShapeType="1"/>
          </p:cNvSpPr>
          <p:nvPr/>
        </p:nvSpPr>
        <p:spPr>
          <a:xfrm>
            <a:off x="23108625" y="18940861"/>
            <a:ext cx="6761747" cy="461665"/>
          </a:xfrm>
          <a:prstGeom prst="rect">
            <a:avLst/>
          </a:prstGeom>
          <a:solidFill>
            <a:schemeClr val="bg1"/>
          </a:solidFill>
        </p:spPr>
        <p:txBody>
          <a:bodyPr wrap="square" rtlCol="0">
            <a:spAutoFit/>
          </a:bodyPr>
          <a:lstStyle/>
          <a:p>
            <a:pPr algn="ctr"/>
            <a:r>
              <a:rPr lang="en-US" sz="2400" b="1" dirty="0">
                <a:solidFill>
                  <a:schemeClr val="accent1">
                    <a:lumMod val="50000"/>
                  </a:schemeClr>
                </a:solidFill>
              </a:rPr>
              <a:t>Initial testing of optical flow pipeline</a:t>
            </a:r>
          </a:p>
        </p:txBody>
      </p:sp>
      <p:sp>
        <p:nvSpPr>
          <p:cNvPr id="212" name="TextBox 211">
            <a:extLst>
              <a:ext uri="{FF2B5EF4-FFF2-40B4-BE49-F238E27FC236}">
                <a16:creationId xmlns:a16="http://schemas.microsoft.com/office/drawing/2014/main" id="{76DA79AE-CC90-1724-C1E8-E65942FF8B99}"/>
              </a:ext>
            </a:extLst>
          </p:cNvPr>
          <p:cNvSpPr txBox="1"/>
          <p:nvPr/>
        </p:nvSpPr>
        <p:spPr>
          <a:xfrm>
            <a:off x="21745138" y="25122205"/>
            <a:ext cx="9411473" cy="600164"/>
          </a:xfrm>
          <a:prstGeom prst="rect">
            <a:avLst/>
          </a:prstGeom>
          <a:noFill/>
          <a:ln>
            <a:noFill/>
          </a:ln>
        </p:spPr>
        <p:txBody>
          <a:bodyPr wrap="square" rtlCol="0">
            <a:spAutoFit/>
          </a:bodyPr>
          <a:lstStyle/>
          <a:p>
            <a:pPr algn="just"/>
            <a:r>
              <a:rPr lang="en-US" sz="1100" b="1" i="1" dirty="0"/>
              <a:t>Figure 5: </a:t>
            </a:r>
            <a:r>
              <a:rPr lang="en-US" sz="1100" i="1" dirty="0"/>
              <a:t>BOS algorithm with integrated optical flow initial testing. The same source images used for the BOS algorithm were used for initial testing of the optical flow algorithm. Parameters for optical flow were informed by data acquired from BOS runs and qualitative data demonstrates a region of pixel shifts clustered around the expected region of the heat plume. </a:t>
            </a:r>
          </a:p>
        </p:txBody>
      </p:sp>
      <p:pic>
        <p:nvPicPr>
          <p:cNvPr id="214" name="Picture 213">
            <a:extLst>
              <a:ext uri="{FF2B5EF4-FFF2-40B4-BE49-F238E27FC236}">
                <a16:creationId xmlns:a16="http://schemas.microsoft.com/office/drawing/2014/main" id="{940C75EE-3E22-305C-C730-3CB530321206}"/>
              </a:ext>
            </a:extLst>
          </p:cNvPr>
          <p:cNvPicPr>
            <a:picLocks noChangeAspect="1"/>
          </p:cNvPicPr>
          <p:nvPr/>
        </p:nvPicPr>
        <p:blipFill>
          <a:blip r:embed="rId41" cstate="hqprint">
            <a:extLst>
              <a:ext uri="{28A0092B-C50C-407E-A947-70E740481C1C}">
                <a14:useLocalDpi xmlns:a14="http://schemas.microsoft.com/office/drawing/2010/main"/>
              </a:ext>
            </a:extLst>
          </a:blip>
          <a:stretch>
            <a:fillRect/>
          </a:stretch>
        </p:blipFill>
        <p:spPr>
          <a:xfrm>
            <a:off x="28328881" y="25722369"/>
            <a:ext cx="2966958" cy="2966958"/>
          </a:xfrm>
          <a:prstGeom prst="rect">
            <a:avLst/>
          </a:prstGeom>
        </p:spPr>
      </p:pic>
      <p:sp>
        <p:nvSpPr>
          <p:cNvPr id="219" name="TextBox 218">
            <a:extLst>
              <a:ext uri="{FF2B5EF4-FFF2-40B4-BE49-F238E27FC236}">
                <a16:creationId xmlns:a16="http://schemas.microsoft.com/office/drawing/2014/main" id="{8F81A05D-8902-E856-F5E5-C41006211549}"/>
              </a:ext>
            </a:extLst>
          </p:cNvPr>
          <p:cNvSpPr txBox="1"/>
          <p:nvPr/>
        </p:nvSpPr>
        <p:spPr>
          <a:xfrm>
            <a:off x="24945166" y="27140899"/>
            <a:ext cx="3694361" cy="1384995"/>
          </a:xfrm>
          <a:prstGeom prst="rect">
            <a:avLst/>
          </a:prstGeom>
          <a:noFill/>
        </p:spPr>
        <p:txBody>
          <a:bodyPr wrap="square" rtlCol="0">
            <a:spAutoFit/>
          </a:bodyPr>
          <a:lstStyle/>
          <a:p>
            <a:r>
              <a:rPr lang="en-US" sz="2800" b="1" dirty="0">
                <a:solidFill>
                  <a:schemeClr val="accent1">
                    <a:lumMod val="50000"/>
                  </a:schemeClr>
                </a:solidFill>
              </a:rPr>
              <a:t>Scan QR code for updated results and progress  </a:t>
            </a:r>
          </a:p>
        </p:txBody>
      </p:sp>
      <p:sp>
        <p:nvSpPr>
          <p:cNvPr id="220" name="Arrow: Bent 219">
            <a:extLst>
              <a:ext uri="{FF2B5EF4-FFF2-40B4-BE49-F238E27FC236}">
                <a16:creationId xmlns:a16="http://schemas.microsoft.com/office/drawing/2014/main" id="{A7A43939-E823-5F38-D6A3-5C6676AD1261}"/>
              </a:ext>
            </a:extLst>
          </p:cNvPr>
          <p:cNvSpPr/>
          <p:nvPr/>
        </p:nvSpPr>
        <p:spPr>
          <a:xfrm flipV="1">
            <a:off x="27027927" y="28033012"/>
            <a:ext cx="1138990" cy="600165"/>
          </a:xfrm>
          <a:prstGeom prst="bentArrow">
            <a:avLst>
              <a:gd name="adj1" fmla="val 25000"/>
              <a:gd name="adj2" fmla="val 25886"/>
              <a:gd name="adj3" fmla="val 42714"/>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2" name="Rectangle 221">
            <a:extLst>
              <a:ext uri="{FF2B5EF4-FFF2-40B4-BE49-F238E27FC236}">
                <a16:creationId xmlns:a16="http://schemas.microsoft.com/office/drawing/2014/main" id="{86BC2422-7315-266D-383B-A7B06C7F1F1C}"/>
              </a:ext>
            </a:extLst>
          </p:cNvPr>
          <p:cNvSpPr/>
          <p:nvPr/>
        </p:nvSpPr>
        <p:spPr>
          <a:xfrm>
            <a:off x="31858404" y="6364003"/>
            <a:ext cx="9865358" cy="731520"/>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lIns="167193" tIns="83596" rIns="167193" bIns="83596" rtlCol="0" anchor="ctr"/>
          <a:lstStyle/>
          <a:p>
            <a:pPr algn="ctr"/>
            <a:r>
              <a:rPr lang="en-US" sz="3800" b="1" dirty="0">
                <a:solidFill>
                  <a:schemeClr val="bg1"/>
                </a:solidFill>
              </a:rPr>
              <a:t>Next Steps</a:t>
            </a:r>
            <a:endParaRPr lang="en-US" sz="3800" b="1" baseline="100000" dirty="0">
              <a:solidFill>
                <a:schemeClr val="bg1"/>
              </a:solidFill>
            </a:endParaRPr>
          </a:p>
        </p:txBody>
      </p:sp>
      <p:sp>
        <p:nvSpPr>
          <p:cNvPr id="223" name="TextBox 222">
            <a:extLst>
              <a:ext uri="{FF2B5EF4-FFF2-40B4-BE49-F238E27FC236}">
                <a16:creationId xmlns:a16="http://schemas.microsoft.com/office/drawing/2014/main" id="{A0D3A852-6947-A5C1-93D0-5A8AB96D1D45}"/>
              </a:ext>
            </a:extLst>
          </p:cNvPr>
          <p:cNvSpPr txBox="1"/>
          <p:nvPr/>
        </p:nvSpPr>
        <p:spPr>
          <a:xfrm>
            <a:off x="31858404" y="7240424"/>
            <a:ext cx="9865357" cy="3406061"/>
          </a:xfrm>
          <a:prstGeom prst="rect">
            <a:avLst/>
          </a:prstGeom>
          <a:noFill/>
        </p:spPr>
        <p:txBody>
          <a:bodyPr wrap="square" rtlCol="0">
            <a:spAutoFit/>
          </a:bodyPr>
          <a:lstStyle/>
          <a:p>
            <a:pPr marL="342900" indent="-342900" algn="just" defTabSz="4036710">
              <a:spcBef>
                <a:spcPts val="800"/>
              </a:spcBef>
              <a:buClr>
                <a:schemeClr val="accent1"/>
              </a:buClr>
              <a:buFont typeface="Arial" panose="020B0604020202020204" pitchFamily="34" charset="0"/>
              <a:buChar char="•"/>
            </a:pPr>
            <a:r>
              <a:rPr lang="en-US" sz="2600" dirty="0"/>
              <a:t>De-risking of current prototype architecture and scripts</a:t>
            </a:r>
          </a:p>
          <a:p>
            <a:pPr marL="342900" indent="-342900" algn="just" defTabSz="4036710">
              <a:spcBef>
                <a:spcPts val="800"/>
              </a:spcBef>
              <a:buClr>
                <a:schemeClr val="accent1"/>
              </a:buClr>
              <a:buFont typeface="Arial" panose="020B0604020202020204" pitchFamily="34" charset="0"/>
              <a:buChar char="•"/>
            </a:pPr>
            <a:r>
              <a:rPr lang="en-US" sz="2600" dirty="0"/>
              <a:t>Refinement of BOS and optical flow processing parameters </a:t>
            </a:r>
          </a:p>
          <a:p>
            <a:pPr marL="342900" indent="-342900" algn="just" defTabSz="4036710">
              <a:spcBef>
                <a:spcPts val="800"/>
              </a:spcBef>
              <a:buClr>
                <a:schemeClr val="accent1"/>
              </a:buClr>
              <a:buFont typeface="Arial" panose="020B0604020202020204" pitchFamily="34" charset="0"/>
              <a:buChar char="•"/>
            </a:pPr>
            <a:r>
              <a:rPr lang="en-US" sz="2600" dirty="0"/>
              <a:t>Video processing</a:t>
            </a:r>
          </a:p>
          <a:p>
            <a:pPr marL="342900" indent="-342900" algn="just" defTabSz="4036710">
              <a:spcBef>
                <a:spcPts val="800"/>
              </a:spcBef>
              <a:buClr>
                <a:schemeClr val="accent1"/>
              </a:buClr>
              <a:buFont typeface="Arial" panose="020B0604020202020204" pitchFamily="34" charset="0"/>
              <a:buChar char="•"/>
            </a:pPr>
            <a:r>
              <a:rPr lang="en-US" sz="2600" dirty="0"/>
              <a:t>Institute reference-free differential imaging</a:t>
            </a:r>
          </a:p>
          <a:p>
            <a:pPr marL="342900" indent="-342900" algn="just" defTabSz="4036710">
              <a:spcBef>
                <a:spcPts val="800"/>
              </a:spcBef>
              <a:buClr>
                <a:schemeClr val="accent1"/>
              </a:buClr>
              <a:buFont typeface="Arial" panose="020B0604020202020204" pitchFamily="34" charset="0"/>
              <a:buChar char="•"/>
            </a:pPr>
            <a:r>
              <a:rPr lang="en-US" sz="2600" dirty="0"/>
              <a:t>Data summary and report for Mk1 prototype</a:t>
            </a:r>
          </a:p>
          <a:p>
            <a:pPr marL="342900" indent="-342900" algn="just" defTabSz="4036710">
              <a:spcBef>
                <a:spcPts val="800"/>
              </a:spcBef>
              <a:buClr>
                <a:schemeClr val="accent1"/>
              </a:buClr>
              <a:buFont typeface="Arial" panose="020B0604020202020204" pitchFamily="34" charset="0"/>
              <a:buChar char="•"/>
            </a:pPr>
            <a:r>
              <a:rPr lang="en-US" sz="2600" dirty="0"/>
              <a:t>Internal or external funding for Mk2 to begin integrating parallax and dual-wavelength differential imaging</a:t>
            </a:r>
          </a:p>
        </p:txBody>
      </p:sp>
      <p:grpSp>
        <p:nvGrpSpPr>
          <p:cNvPr id="235" name="Group 234">
            <a:extLst>
              <a:ext uri="{FF2B5EF4-FFF2-40B4-BE49-F238E27FC236}">
                <a16:creationId xmlns:a16="http://schemas.microsoft.com/office/drawing/2014/main" id="{42608223-DF74-3574-3D6E-C55C41321D2F}"/>
              </a:ext>
            </a:extLst>
          </p:cNvPr>
          <p:cNvGrpSpPr/>
          <p:nvPr/>
        </p:nvGrpSpPr>
        <p:grpSpPr>
          <a:xfrm>
            <a:off x="21756048" y="7137531"/>
            <a:ext cx="9440809" cy="11037430"/>
            <a:chOff x="21756048" y="7137531"/>
            <a:chExt cx="9440809" cy="11037430"/>
          </a:xfrm>
        </p:grpSpPr>
        <p:grpSp>
          <p:nvGrpSpPr>
            <p:cNvPr id="233" name="Group 232">
              <a:extLst>
                <a:ext uri="{FF2B5EF4-FFF2-40B4-BE49-F238E27FC236}">
                  <a16:creationId xmlns:a16="http://schemas.microsoft.com/office/drawing/2014/main" id="{98132069-15A8-4916-6A6D-7905443AFD39}"/>
                </a:ext>
              </a:extLst>
            </p:cNvPr>
            <p:cNvGrpSpPr/>
            <p:nvPr/>
          </p:nvGrpSpPr>
          <p:grpSpPr>
            <a:xfrm>
              <a:off x="21756048" y="7137531"/>
              <a:ext cx="9440809" cy="11037430"/>
              <a:chOff x="21756048" y="7137531"/>
              <a:chExt cx="9440809" cy="11037430"/>
            </a:xfrm>
          </p:grpSpPr>
          <p:grpSp>
            <p:nvGrpSpPr>
              <p:cNvPr id="232" name="Group 231">
                <a:extLst>
                  <a:ext uri="{FF2B5EF4-FFF2-40B4-BE49-F238E27FC236}">
                    <a16:creationId xmlns:a16="http://schemas.microsoft.com/office/drawing/2014/main" id="{EC2744B9-A3B2-F1AD-9A9D-3923193BD1D7}"/>
                  </a:ext>
                </a:extLst>
              </p:cNvPr>
              <p:cNvGrpSpPr/>
              <p:nvPr/>
            </p:nvGrpSpPr>
            <p:grpSpPr>
              <a:xfrm>
                <a:off x="21756048" y="7718993"/>
                <a:ext cx="9440809" cy="10455968"/>
                <a:chOff x="21756048" y="7718993"/>
                <a:chExt cx="9440809" cy="10455968"/>
              </a:xfrm>
            </p:grpSpPr>
            <p:sp>
              <p:nvSpPr>
                <p:cNvPr id="226" name="Rectangle 225">
                  <a:extLst>
                    <a:ext uri="{FF2B5EF4-FFF2-40B4-BE49-F238E27FC236}">
                      <a16:creationId xmlns:a16="http://schemas.microsoft.com/office/drawing/2014/main" id="{657422CE-90CC-5F62-555B-6841C9003327}"/>
                    </a:ext>
                  </a:extLst>
                </p:cNvPr>
                <p:cNvSpPr/>
                <p:nvPr/>
              </p:nvSpPr>
              <p:spPr>
                <a:xfrm>
                  <a:off x="21756048" y="13111266"/>
                  <a:ext cx="9440808" cy="506369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b)</a:t>
                  </a:r>
                </a:p>
              </p:txBody>
            </p:sp>
            <p:sp>
              <p:nvSpPr>
                <p:cNvPr id="224" name="Rectangle 223">
                  <a:extLst>
                    <a:ext uri="{FF2B5EF4-FFF2-40B4-BE49-F238E27FC236}">
                      <a16:creationId xmlns:a16="http://schemas.microsoft.com/office/drawing/2014/main" id="{A8D12B2B-C65B-479F-DA47-9CB8E4CA20D6}"/>
                    </a:ext>
                  </a:extLst>
                </p:cNvPr>
                <p:cNvSpPr/>
                <p:nvPr/>
              </p:nvSpPr>
              <p:spPr>
                <a:xfrm>
                  <a:off x="21756049" y="7718993"/>
                  <a:ext cx="9440808" cy="506369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a)</a:t>
                  </a:r>
                </a:p>
              </p:txBody>
            </p:sp>
          </p:grpSp>
          <p:sp>
            <p:nvSpPr>
              <p:cNvPr id="216" name="TextBox 215">
                <a:extLst>
                  <a:ext uri="{FF2B5EF4-FFF2-40B4-BE49-F238E27FC236}">
                    <a16:creationId xmlns:a16="http://schemas.microsoft.com/office/drawing/2014/main" id="{5D892349-9D7D-333B-BDF3-B89A2AD924A1}"/>
                  </a:ext>
                </a:extLst>
              </p:cNvPr>
              <p:cNvSpPr txBox="1"/>
              <p:nvPr/>
            </p:nvSpPr>
            <p:spPr>
              <a:xfrm>
                <a:off x="23070000" y="7137531"/>
                <a:ext cx="6761747" cy="523220"/>
              </a:xfrm>
              <a:prstGeom prst="rect">
                <a:avLst/>
              </a:prstGeom>
              <a:solidFill>
                <a:schemeClr val="bg1"/>
              </a:solidFill>
            </p:spPr>
            <p:txBody>
              <a:bodyPr wrap="square" rtlCol="0">
                <a:spAutoFit/>
              </a:bodyPr>
              <a:lstStyle/>
              <a:p>
                <a:pPr algn="ctr"/>
                <a:r>
                  <a:rPr lang="en-US" sz="2800" b="1" dirty="0">
                    <a:solidFill>
                      <a:schemeClr val="accent1">
                        <a:lumMod val="50000"/>
                      </a:schemeClr>
                    </a:solidFill>
                  </a:rPr>
                  <a:t>Initial testing of BOS pipeline</a:t>
                </a:r>
              </a:p>
            </p:txBody>
          </p:sp>
        </p:grpSp>
        <p:sp>
          <p:nvSpPr>
            <p:cNvPr id="234" name="TextBox 233">
              <a:extLst>
                <a:ext uri="{FF2B5EF4-FFF2-40B4-BE49-F238E27FC236}">
                  <a16:creationId xmlns:a16="http://schemas.microsoft.com/office/drawing/2014/main" id="{734D7D36-011E-718A-4560-5F1C24ED6CFE}"/>
                </a:ext>
              </a:extLst>
            </p:cNvPr>
            <p:cNvSpPr txBox="1"/>
            <p:nvPr/>
          </p:nvSpPr>
          <p:spPr>
            <a:xfrm>
              <a:off x="25427999" y="12825003"/>
              <a:ext cx="2177716" cy="246221"/>
            </a:xfrm>
            <a:prstGeom prst="rect">
              <a:avLst/>
            </a:prstGeom>
            <a:solidFill>
              <a:schemeClr val="bg1"/>
            </a:solidFill>
            <a:ln>
              <a:solidFill>
                <a:schemeClr val="bg1"/>
              </a:solidFill>
            </a:ln>
          </p:spPr>
          <p:txBody>
            <a:bodyPr wrap="square" rtlCol="0">
              <a:spAutoFit/>
            </a:bodyPr>
            <a:lstStyle/>
            <a:p>
              <a:endParaRPr lang="en-US" sz="1000" dirty="0"/>
            </a:p>
          </p:txBody>
        </p:sp>
      </p:grpSp>
      <p:sp>
        <p:nvSpPr>
          <p:cNvPr id="239" name="TextBox 238">
            <a:extLst>
              <a:ext uri="{FF2B5EF4-FFF2-40B4-BE49-F238E27FC236}">
                <a16:creationId xmlns:a16="http://schemas.microsoft.com/office/drawing/2014/main" id="{1E7FFD29-AF21-3B3D-6B0D-916945F1DA34}"/>
              </a:ext>
            </a:extLst>
          </p:cNvPr>
          <p:cNvSpPr txBox="1"/>
          <p:nvPr/>
        </p:nvSpPr>
        <p:spPr>
          <a:xfrm>
            <a:off x="24945166" y="25747486"/>
            <a:ext cx="3383715" cy="1277273"/>
          </a:xfrm>
          <a:prstGeom prst="rect">
            <a:avLst/>
          </a:prstGeom>
          <a:noFill/>
        </p:spPr>
        <p:txBody>
          <a:bodyPr wrap="square" rtlCol="0">
            <a:spAutoFit/>
          </a:bodyPr>
          <a:lstStyle/>
          <a:p>
            <a:pPr algn="just"/>
            <a:r>
              <a:rPr lang="en-US" sz="1100" b="1" i="1" dirty="0"/>
              <a:t>Figure 6: </a:t>
            </a:r>
            <a:r>
              <a:rPr lang="en-US" sz="1100" dirty="0"/>
              <a:t>t-Test results for preliminary BOS runs with a threshold (z) of 30. Analysis of the run data shows a significant difference in %</a:t>
            </a:r>
            <a:r>
              <a:rPr lang="en-US" sz="1100" dirty="0" err="1"/>
              <a:t>I</a:t>
            </a:r>
            <a:r>
              <a:rPr lang="en-US" sz="1100" baseline="-25000" dirty="0" err="1"/>
              <a:t>px</a:t>
            </a:r>
            <a:r>
              <a:rPr lang="en-US" sz="1100" dirty="0"/>
              <a:t>&gt;z  (p=0.045569) between the control and variable conditions. These results suggest the rtVSLI Mk1 can detect pixel intensity changes associated with heat induced changes to air density gradients.</a:t>
            </a:r>
          </a:p>
        </p:txBody>
      </p:sp>
      <p:sp>
        <p:nvSpPr>
          <p:cNvPr id="240" name="Rectangle 239">
            <a:extLst>
              <a:ext uri="{FF2B5EF4-FFF2-40B4-BE49-F238E27FC236}">
                <a16:creationId xmlns:a16="http://schemas.microsoft.com/office/drawing/2014/main" id="{79C25BB8-B8B4-2F38-0F21-BE608AB6CA13}"/>
              </a:ext>
            </a:extLst>
          </p:cNvPr>
          <p:cNvSpPr/>
          <p:nvPr/>
        </p:nvSpPr>
        <p:spPr>
          <a:xfrm>
            <a:off x="21686586" y="7642849"/>
            <a:ext cx="9605219" cy="106103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4" name="Picture 243">
            <a:extLst>
              <a:ext uri="{FF2B5EF4-FFF2-40B4-BE49-F238E27FC236}">
                <a16:creationId xmlns:a16="http://schemas.microsoft.com/office/drawing/2014/main" id="{91A3FA47-4781-CFFA-C547-3C4858991915}"/>
              </a:ext>
            </a:extLst>
          </p:cNvPr>
          <p:cNvPicPr>
            <a:picLocks noChangeAspect="1"/>
          </p:cNvPicPr>
          <p:nvPr/>
        </p:nvPicPr>
        <p:blipFill>
          <a:blip r:embed="rId42"/>
          <a:stretch>
            <a:fillRect/>
          </a:stretch>
        </p:blipFill>
        <p:spPr>
          <a:xfrm>
            <a:off x="21756048" y="25779148"/>
            <a:ext cx="3124200" cy="2305050"/>
          </a:xfrm>
          <a:prstGeom prst="rect">
            <a:avLst/>
          </a:prstGeom>
        </p:spPr>
      </p:pic>
      <p:sp>
        <p:nvSpPr>
          <p:cNvPr id="210" name="TextBox 209">
            <a:extLst>
              <a:ext uri="{FF2B5EF4-FFF2-40B4-BE49-F238E27FC236}">
                <a16:creationId xmlns:a16="http://schemas.microsoft.com/office/drawing/2014/main" id="{B3F6CA61-9814-35C8-DB32-A3A52DF2640F}"/>
              </a:ext>
            </a:extLst>
          </p:cNvPr>
          <p:cNvSpPr txBox="1"/>
          <p:nvPr/>
        </p:nvSpPr>
        <p:spPr>
          <a:xfrm>
            <a:off x="21704573" y="18253238"/>
            <a:ext cx="9612679" cy="769441"/>
          </a:xfrm>
          <a:prstGeom prst="rect">
            <a:avLst/>
          </a:prstGeom>
          <a:noFill/>
        </p:spPr>
        <p:txBody>
          <a:bodyPr wrap="square" rtlCol="0">
            <a:spAutoFit/>
          </a:bodyPr>
          <a:lstStyle/>
          <a:p>
            <a:pPr algn="just"/>
            <a:r>
              <a:rPr lang="en-US" sz="1100" b="1" i="1" dirty="0"/>
              <a:t>Figure 4: </a:t>
            </a:r>
            <a:r>
              <a:rPr lang="en-US" sz="1100" i="1" dirty="0"/>
              <a:t>BOS algorithm initial testing. A heat jet of approximately 400°C was used to create distortions in the projected background. The purpose of these tests is to inform initial baseline parameters. A general 2x – 3x increase in percentage of pixels above threshold for the variable tests (b) compared to the control (a) has been observed during initial testing. Average pixel shift intensity along with other parameters are being used to inform optical flow processing parameters for more sensitive measurements.</a:t>
            </a:r>
          </a:p>
        </p:txBody>
      </p:sp>
      <p:pic>
        <p:nvPicPr>
          <p:cNvPr id="13" name="Picture 12">
            <a:extLst>
              <a:ext uri="{FF2B5EF4-FFF2-40B4-BE49-F238E27FC236}">
                <a16:creationId xmlns:a16="http://schemas.microsoft.com/office/drawing/2014/main" id="{BA8AC5D9-E9C2-76CB-CEC7-275846CB4CB7}"/>
              </a:ext>
            </a:extLst>
          </p:cNvPr>
          <p:cNvPicPr>
            <a:picLocks noChangeAspect="1"/>
          </p:cNvPicPr>
          <p:nvPr/>
        </p:nvPicPr>
        <p:blipFill>
          <a:blip r:embed="rId43" cstate="hqprint">
            <a:extLst>
              <a:ext uri="{28A0092B-C50C-407E-A947-70E740481C1C}">
                <a14:useLocalDpi xmlns:a14="http://schemas.microsoft.com/office/drawing/2010/main"/>
              </a:ext>
            </a:extLst>
          </a:blip>
          <a:stretch>
            <a:fillRect/>
          </a:stretch>
        </p:blipFill>
        <p:spPr>
          <a:xfrm>
            <a:off x="21737421" y="19374256"/>
            <a:ext cx="9509120" cy="5637523"/>
          </a:xfrm>
          <a:prstGeom prst="rect">
            <a:avLst/>
          </a:prstGeom>
        </p:spPr>
      </p:pic>
    </p:spTree>
    <p:extLst>
      <p:ext uri="{BB962C8B-B14F-4D97-AF65-F5344CB8AC3E}">
        <p14:creationId xmlns:p14="http://schemas.microsoft.com/office/powerpoint/2010/main" val="3531121403"/>
      </p:ext>
    </p:extLst>
  </p:cSld>
  <p:clrMapOvr>
    <a:masterClrMapping/>
  </p:clrMapOvr>
</p:sld>
</file>

<file path=ppt/theme/theme1.xml><?xml version="1.0" encoding="utf-8"?>
<a:theme xmlns:a="http://schemas.openxmlformats.org/drawingml/2006/main" name="Office Theme">
  <a:themeElements>
    <a:clrScheme name="Ultrafacility 2024">
      <a:dk1>
        <a:srgbClr val="231F20"/>
      </a:dk1>
      <a:lt1>
        <a:srgbClr val="FFFFFF"/>
      </a:lt1>
      <a:dk2>
        <a:srgbClr val="231F20"/>
      </a:dk2>
      <a:lt2>
        <a:srgbClr val="FFFFFF"/>
      </a:lt2>
      <a:accent1>
        <a:srgbClr val="4A9443"/>
      </a:accent1>
      <a:accent2>
        <a:srgbClr val="6A6868"/>
      </a:accent2>
      <a:accent3>
        <a:srgbClr val="7771B4"/>
      </a:accent3>
      <a:accent4>
        <a:srgbClr val="F58220"/>
      </a:accent4>
      <a:accent5>
        <a:srgbClr val="FCC40F"/>
      </a:accent5>
      <a:accent6>
        <a:srgbClr val="009FDF"/>
      </a:accent6>
      <a:hlink>
        <a:srgbClr val="4A9443"/>
      </a:hlink>
      <a:folHlink>
        <a:srgbClr val="6A6868"/>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Ultrafacility 2024">
      <a:dk1>
        <a:srgbClr val="231F20"/>
      </a:dk1>
      <a:lt1>
        <a:srgbClr val="FFFFFF"/>
      </a:lt1>
      <a:dk2>
        <a:srgbClr val="231F20"/>
      </a:dk2>
      <a:lt2>
        <a:srgbClr val="FFFFFF"/>
      </a:lt2>
      <a:accent1>
        <a:srgbClr val="4A9443"/>
      </a:accent1>
      <a:accent2>
        <a:srgbClr val="6A6868"/>
      </a:accent2>
      <a:accent3>
        <a:srgbClr val="7771B4"/>
      </a:accent3>
      <a:accent4>
        <a:srgbClr val="F58220"/>
      </a:accent4>
      <a:accent5>
        <a:srgbClr val="FCC40F"/>
      </a:accent5>
      <a:accent6>
        <a:srgbClr val="009FDF"/>
      </a:accent6>
      <a:hlink>
        <a:srgbClr val="4A9443"/>
      </a:hlink>
      <a:folHlink>
        <a:srgbClr val="6A686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61E31DE52E1E449B6B08B0BE100588" ma:contentTypeVersion="20" ma:contentTypeDescription="Create a new document." ma:contentTypeScope="" ma:versionID="91a5f92d900358376246f19fef29bfe7">
  <xsd:schema xmlns:xsd="http://www.w3.org/2001/XMLSchema" xmlns:xs="http://www.w3.org/2001/XMLSchema" xmlns:p="http://schemas.microsoft.com/office/2006/metadata/properties" xmlns:ns2="363c98ce-d087-4bab-a0a0-c5dd7cbd595b" xmlns:ns3="2b8025e8-a6a1-48da-b3bd-d039b4aa85cf" targetNamespace="http://schemas.microsoft.com/office/2006/metadata/properties" ma:root="true" ma:fieldsID="47080fa5c62289301335e5181ae39e4d" ns2:_="" ns3:_="">
    <xsd:import namespace="363c98ce-d087-4bab-a0a0-c5dd7cbd595b"/>
    <xsd:import namespace="2b8025e8-a6a1-48da-b3bd-d039b4aa85cf"/>
    <xsd:element name="properties">
      <xsd:complexType>
        <xsd:sequence>
          <xsd:element name="documentManagement">
            <xsd:complexType>
              <xsd:all>
                <xsd:element ref="ns2:Companytype"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ermissions" minOccurs="0"/>
                <xsd:element ref="ns3:SharedWithUsers" minOccurs="0"/>
                <xsd:element ref="ns3: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c98ce-d087-4bab-a0a0-c5dd7cbd595b" elementFormDefault="qualified">
    <xsd:import namespace="http://schemas.microsoft.com/office/2006/documentManagement/types"/>
    <xsd:import namespace="http://schemas.microsoft.com/office/infopath/2007/PartnerControls"/>
    <xsd:element name="Companytype" ma:index="3" nillable="true" ma:displayName="Company type" ma:format="Dropdown" ma:list="UserInfo" ma:SharePointGroup="0" ma:internalName="Companytype"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default="" ma:fieldId="{5cf76f15-5ced-4ddc-b409-7134ff3c332f}" ma:taxonomyMulti="true" ma:sspId="cc2ee68a-5fd3-407b-a220-fb624134c2b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Permissions" ma:index="20" nillable="true" ma:displayName="Permissions" ma:default="Adobe Stock Standard License" ma:internalName="Permissions">
      <xsd:complexType>
        <xsd:complexContent>
          <xsd:extension base="dms:MultiChoice">
            <xsd:sequence>
              <xsd:element name="Value" maxOccurs="unbounded" minOccurs="0" nillable="true">
                <xsd:simpleType>
                  <xsd:restriction base="dms:Choice">
                    <xsd:enumeration value="Adobe Stock Standard License"/>
                    <xsd:enumeration value="Shutterstock Standard License"/>
                    <xsd:enumeration value="Other"/>
                  </xsd:restriction>
                </xsd:simpleType>
              </xsd:element>
            </xsd:sequence>
          </xsd:extension>
        </xsd:complexContent>
      </xsd:complex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8025e8-a6a1-48da-b3bd-d039b4aa85c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aa8869b-48fd-41ba-a4a4-bb468770785b}" ma:internalName="TaxCatchAll" ma:readOnly="false" ma:showField="CatchAllData" ma:web="2b8025e8-a6a1-48da-b3bd-d039b4aa85c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63c98ce-d087-4bab-a0a0-c5dd7cbd595b">
      <Terms xmlns="http://schemas.microsoft.com/office/infopath/2007/PartnerControls"/>
    </lcf76f155ced4ddcb4097134ff3c332f>
    <TaxCatchAll xmlns="2b8025e8-a6a1-48da-b3bd-d039b4aa85cf" xsi:nil="true"/>
    <Companytype xmlns="363c98ce-d087-4bab-a0a0-c5dd7cbd595b">
      <UserInfo>
        <DisplayName/>
        <AccountId xsi:nil="true"/>
        <AccountType/>
      </UserInfo>
    </Companytype>
    <Permissions xmlns="363c98ce-d087-4bab-a0a0-c5dd7cbd595b">
      <Value>Adobe Stock Standard License</Value>
    </Permissions>
  </documentManagement>
</p:properties>
</file>

<file path=customXml/itemProps1.xml><?xml version="1.0" encoding="utf-8"?>
<ds:datastoreItem xmlns:ds="http://schemas.openxmlformats.org/officeDocument/2006/customXml" ds:itemID="{61CACDED-FD95-457A-8025-89C47E96CD79}">
  <ds:schemaRefs>
    <ds:schemaRef ds:uri="2b8025e8-a6a1-48da-b3bd-d039b4aa85cf"/>
    <ds:schemaRef ds:uri="363c98ce-d087-4bab-a0a0-c5dd7cbd59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3FB0E44-3D69-4576-B109-C68B0C244158}">
  <ds:schemaRefs>
    <ds:schemaRef ds:uri="http://schemas.microsoft.com/sharepoint/v3/contenttype/forms"/>
  </ds:schemaRefs>
</ds:datastoreItem>
</file>

<file path=customXml/itemProps3.xml><?xml version="1.0" encoding="utf-8"?>
<ds:datastoreItem xmlns:ds="http://schemas.openxmlformats.org/officeDocument/2006/customXml" ds:itemID="{57D3CC13-7503-43A5-AE20-F0F47533BA4A}">
  <ds:schemaRefs>
    <ds:schemaRef ds:uri="2b8025e8-a6a1-48da-b3bd-d039b4aa85cf"/>
    <ds:schemaRef ds:uri="363c98ce-d087-4bab-a0a0-c5dd7cbd59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2dd732a6-0413-473f-a1ce-68d1616444b6}" enabled="0" method="" siteId="{2dd732a6-0413-473f-a1ce-68d1616444b6}" removed="1"/>
</clbl:labelList>
</file>

<file path=docProps/app.xml><?xml version="1.0" encoding="utf-8"?>
<Properties xmlns="http://schemas.openxmlformats.org/officeDocument/2006/extended-properties" xmlns:vt="http://schemas.openxmlformats.org/officeDocument/2006/docPropsVTypes">
  <Template>Office Theme</Template>
  <TotalTime>435</TotalTime>
  <Words>1450</Words>
  <Application>Microsoft Office PowerPoint</Application>
  <PresentationFormat>Custom</PresentationFormat>
  <Paragraphs>108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Real-Time Versatile Structured Light Imaging (rtVSLI)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Hollie Sidaway</dc:creator>
  <cp:lastModifiedBy>Greenhalge, John (US)</cp:lastModifiedBy>
  <cp:revision>5</cp:revision>
  <dcterms:created xsi:type="dcterms:W3CDTF">2024-07-16T14:01:13Z</dcterms:created>
  <dcterms:modified xsi:type="dcterms:W3CDTF">2026-08-11T01:14:03Z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0x0101003761E31DE52E1E449B6B08B0BE100588</vt:lpwstr>
  </property>
  <property fmtid="{D5CDD505-2E9C-101B-9397-08002B2CF9AE}" pid="3" name="MediaServiceImageTags">
    <vt:lpwstr/>
  </property>
</Properties>
</file>